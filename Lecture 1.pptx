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sldIdLst>
    <p:sldId id="256" r:id="rId2"/>
    <p:sldId id="257" r:id="rId3"/>
    <p:sldId id="258" r:id="rId4"/>
    <p:sldId id="260"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831"/>
  </p:normalViewPr>
  <p:slideViewPr>
    <p:cSldViewPr snapToGrid="0" snapToObjects="1">
      <p:cViewPr varScale="1">
        <p:scale>
          <a:sx n="92" d="100"/>
          <a:sy n="92"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3161749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529432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296832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2804392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0B73A7-98D0-5A41-AD3D-AF40273F9F42}" type="datetimeFigureOut">
              <a:rPr lang="en-KE" smtClean="0"/>
              <a:t>27/05/2025</a:t>
            </a:fld>
            <a:endParaRPr lang="en-KE"/>
          </a:p>
        </p:txBody>
      </p:sp>
      <p:sp>
        <p:nvSpPr>
          <p:cNvPr id="8" name="Footer Placeholder 7"/>
          <p:cNvSpPr>
            <a:spLocks noGrp="1"/>
          </p:cNvSpPr>
          <p:nvPr>
            <p:ph type="ftr" sz="quarter" idx="11"/>
          </p:nvPr>
        </p:nvSpPr>
        <p:spPr/>
        <p:txBody>
          <a:bodyPr/>
          <a:lstStyle/>
          <a:p>
            <a:endParaRPr lang="en-K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1500659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0B73A7-98D0-5A41-AD3D-AF40273F9F42}" type="datetimeFigureOut">
              <a:rPr lang="en-KE" smtClean="0"/>
              <a:t>27/05/2025</a:t>
            </a:fld>
            <a:endParaRPr lang="en-KE"/>
          </a:p>
        </p:txBody>
      </p:sp>
      <p:sp>
        <p:nvSpPr>
          <p:cNvPr id="4" name="Footer Placeholder 3"/>
          <p:cNvSpPr>
            <a:spLocks noGrp="1"/>
          </p:cNvSpPr>
          <p:nvPr>
            <p:ph type="ftr" sz="quarter" idx="11"/>
          </p:nvPr>
        </p:nvSpPr>
        <p:spPr/>
        <p:txBody>
          <a:bodyPr/>
          <a:lstStyle/>
          <a:p>
            <a:endParaRPr lang="en-KE"/>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56712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0B73A7-98D0-5A41-AD3D-AF40273F9F42}" type="datetimeFigureOut">
              <a:rPr lang="en-KE" smtClean="0"/>
              <a:t>27/05/2025</a:t>
            </a:fld>
            <a:endParaRPr lang="en-KE"/>
          </a:p>
        </p:txBody>
      </p:sp>
      <p:sp>
        <p:nvSpPr>
          <p:cNvPr id="3" name="Footer Placeholder 2"/>
          <p:cNvSpPr>
            <a:spLocks noGrp="1"/>
          </p:cNvSpPr>
          <p:nvPr>
            <p:ph type="ftr" sz="quarter" idx="11"/>
          </p:nvPr>
        </p:nvSpPr>
        <p:spPr/>
        <p:txBody>
          <a:bodyPr/>
          <a:lstStyle/>
          <a:p>
            <a:endParaRPr lang="en-KE"/>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78791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3358044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1897213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1227942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FB61DD8-CF64-7E47-A3B5-66DF958FE6F2}" type="slidenum">
              <a:rPr lang="en-KE" smtClean="0"/>
              <a:t>‹#›</a:t>
            </a:fld>
            <a:endParaRPr lang="en-KE"/>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86050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578222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B61DD8-CF64-7E47-A3B5-66DF958FE6F2}" type="slidenum">
              <a:rPr lang="en-KE" smtClean="0"/>
              <a:t>‹#›</a:t>
            </a:fld>
            <a:endParaRPr lang="en-KE"/>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41380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B60B73A7-98D0-5A41-AD3D-AF40273F9F42}" type="datetimeFigureOut">
              <a:rPr lang="en-KE" smtClean="0"/>
              <a:t>27/05/2025</a:t>
            </a:fld>
            <a:endParaRPr lang="en-KE"/>
          </a:p>
        </p:txBody>
      </p:sp>
      <p:sp>
        <p:nvSpPr>
          <p:cNvPr id="6" name="Footer Placeholder 5"/>
          <p:cNvSpPr>
            <a:spLocks noGrp="1"/>
          </p:cNvSpPr>
          <p:nvPr>
            <p:ph type="ftr" sz="quarter" idx="11"/>
          </p:nvPr>
        </p:nvSpPr>
        <p:spPr/>
        <p:txBody>
          <a:bodyPr/>
          <a:lstStyle/>
          <a:p>
            <a:endParaRPr lang="en-K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3828440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3923891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0B73A7-98D0-5A41-AD3D-AF40273F9F42}" type="datetimeFigureOut">
              <a:rPr lang="en-KE" smtClean="0"/>
              <a:t>27/05/2025</a:t>
            </a:fld>
            <a:endParaRPr lang="en-KE"/>
          </a:p>
        </p:txBody>
      </p:sp>
      <p:sp>
        <p:nvSpPr>
          <p:cNvPr id="5" name="Footer Placeholder 4"/>
          <p:cNvSpPr>
            <a:spLocks noGrp="1"/>
          </p:cNvSpPr>
          <p:nvPr>
            <p:ph type="ftr" sz="quarter" idx="11"/>
          </p:nvPr>
        </p:nvSpPr>
        <p:spPr/>
        <p:txBody>
          <a:bodyPr/>
          <a:lstStyle/>
          <a:p>
            <a:endParaRPr lang="en-K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FB61DD8-CF64-7E47-A3B5-66DF958FE6F2}" type="slidenum">
              <a:rPr lang="en-KE" smtClean="0"/>
              <a:t>‹#›</a:t>
            </a:fld>
            <a:endParaRPr lang="en-KE"/>
          </a:p>
        </p:txBody>
      </p:sp>
    </p:spTree>
    <p:extLst>
      <p:ext uri="{BB962C8B-B14F-4D97-AF65-F5344CB8AC3E}">
        <p14:creationId xmlns:p14="http://schemas.microsoft.com/office/powerpoint/2010/main" val="625651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0B73A7-98D0-5A41-AD3D-AF40273F9F42}" type="datetimeFigureOut">
              <a:rPr lang="en-KE" smtClean="0"/>
              <a:t>27/05/2025</a:t>
            </a:fld>
            <a:endParaRPr lang="en-KE"/>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KE"/>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FB61DD8-CF64-7E47-A3B5-66DF958FE6F2}" type="slidenum">
              <a:rPr lang="en-KE" smtClean="0"/>
              <a:t>‹#›</a:t>
            </a:fld>
            <a:endParaRPr lang="en-KE"/>
          </a:p>
        </p:txBody>
      </p:sp>
    </p:spTree>
    <p:extLst>
      <p:ext uri="{BB962C8B-B14F-4D97-AF65-F5344CB8AC3E}">
        <p14:creationId xmlns:p14="http://schemas.microsoft.com/office/powerpoint/2010/main" val="148929337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FFBF-3BC6-8842-87C0-6502C1F5E8E7}"/>
              </a:ext>
            </a:extLst>
          </p:cNvPr>
          <p:cNvSpPr>
            <a:spLocks noGrp="1"/>
          </p:cNvSpPr>
          <p:nvPr>
            <p:ph type="ctrTitle"/>
          </p:nvPr>
        </p:nvSpPr>
        <p:spPr/>
        <p:txBody>
          <a:bodyPr>
            <a:normAutofit/>
          </a:bodyPr>
          <a:lstStyle/>
          <a:p>
            <a:r>
              <a:rPr lang="en-KE" b="1" dirty="0">
                <a:latin typeface="American Typewriter" panose="02090604020004020304" pitchFamily="18" charset="77"/>
              </a:rPr>
              <a:t>SOCIAL INFORMATICS</a:t>
            </a:r>
          </a:p>
        </p:txBody>
      </p:sp>
      <p:sp>
        <p:nvSpPr>
          <p:cNvPr id="3" name="Subtitle 2">
            <a:extLst>
              <a:ext uri="{FF2B5EF4-FFF2-40B4-BE49-F238E27FC236}">
                <a16:creationId xmlns:a16="http://schemas.microsoft.com/office/drawing/2014/main" id="{B6EBEB55-679D-F848-8DA6-6610A98B9C52}"/>
              </a:ext>
            </a:extLst>
          </p:cNvPr>
          <p:cNvSpPr>
            <a:spLocks noGrp="1"/>
          </p:cNvSpPr>
          <p:nvPr>
            <p:ph type="subTitle" idx="1"/>
          </p:nvPr>
        </p:nvSpPr>
        <p:spPr/>
        <p:txBody>
          <a:bodyPr/>
          <a:lstStyle/>
          <a:p>
            <a:endParaRPr lang="en-KE" dirty="0">
              <a:latin typeface="American Typewriter" panose="02090604020004020304" pitchFamily="18" charset="77"/>
            </a:endParaRPr>
          </a:p>
        </p:txBody>
      </p:sp>
    </p:spTree>
    <p:extLst>
      <p:ext uri="{BB962C8B-B14F-4D97-AF65-F5344CB8AC3E}">
        <p14:creationId xmlns:p14="http://schemas.microsoft.com/office/powerpoint/2010/main" val="4183337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68E9-3795-4949-8B71-507BBEDC68C3}"/>
              </a:ext>
            </a:extLst>
          </p:cNvPr>
          <p:cNvSpPr>
            <a:spLocks noGrp="1"/>
          </p:cNvSpPr>
          <p:nvPr>
            <p:ph type="title"/>
          </p:nvPr>
        </p:nvSpPr>
        <p:spPr/>
        <p:txBody>
          <a:bodyPr/>
          <a:lstStyle/>
          <a:p>
            <a:r>
              <a:rPr lang="en-KE" dirty="0">
                <a:latin typeface="American Typewriter" panose="02090604020004020304" pitchFamily="18" charset="77"/>
              </a:rPr>
              <a:t>Scope of Social Informatics</a:t>
            </a:r>
          </a:p>
        </p:txBody>
      </p:sp>
      <p:sp>
        <p:nvSpPr>
          <p:cNvPr id="3" name="Content Placeholder 2">
            <a:extLst>
              <a:ext uri="{FF2B5EF4-FFF2-40B4-BE49-F238E27FC236}">
                <a16:creationId xmlns:a16="http://schemas.microsoft.com/office/drawing/2014/main" id="{9A628B04-FF0A-514D-876E-6913DCF8D78E}"/>
              </a:ext>
            </a:extLst>
          </p:cNvPr>
          <p:cNvSpPr>
            <a:spLocks noGrp="1"/>
          </p:cNvSpPr>
          <p:nvPr>
            <p:ph idx="1"/>
          </p:nvPr>
        </p:nvSpPr>
        <p:spPr/>
        <p:txBody>
          <a:bodyPr/>
          <a:lstStyle/>
          <a:p>
            <a:r>
              <a:rPr lang="en-GB" dirty="0">
                <a:latin typeface="American Typewriter" panose="02090604020004020304" pitchFamily="18" charset="77"/>
              </a:rPr>
              <a:t>Social informatics is a transdisciplinary discipline that studies the interaction between human society and information and communication technologies (ICTs). It investigates how ICTs influence social interactions, behaviours, and structures at individual, group, and societal levels. The field incorporates ideas from various academic fields, including computer science, information science, and sociology, to understand how technology affects society in areas like privacy, security, access, and digital inequality.</a:t>
            </a:r>
            <a:endParaRPr lang="en-KE" dirty="0">
              <a:latin typeface="American Typewriter" panose="02090604020004020304" pitchFamily="18" charset="77"/>
            </a:endParaRPr>
          </a:p>
        </p:txBody>
      </p:sp>
    </p:spTree>
    <p:extLst>
      <p:ext uri="{BB962C8B-B14F-4D97-AF65-F5344CB8AC3E}">
        <p14:creationId xmlns:p14="http://schemas.microsoft.com/office/powerpoint/2010/main" val="2799652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8451-30C9-1542-A073-1238E85C825D}"/>
              </a:ext>
            </a:extLst>
          </p:cNvPr>
          <p:cNvSpPr>
            <a:spLocks noGrp="1"/>
          </p:cNvSpPr>
          <p:nvPr>
            <p:ph type="title"/>
          </p:nvPr>
        </p:nvSpPr>
        <p:spPr/>
        <p:txBody>
          <a:bodyPr/>
          <a:lstStyle/>
          <a:p>
            <a:r>
              <a:rPr lang="en-KE" dirty="0">
                <a:latin typeface="American Typewriter" panose="02090604020004020304" pitchFamily="18" charset="77"/>
              </a:rPr>
              <a:t>ICT and Society</a:t>
            </a:r>
          </a:p>
        </p:txBody>
      </p:sp>
      <p:sp>
        <p:nvSpPr>
          <p:cNvPr id="3" name="Content Placeholder 2">
            <a:extLst>
              <a:ext uri="{FF2B5EF4-FFF2-40B4-BE49-F238E27FC236}">
                <a16:creationId xmlns:a16="http://schemas.microsoft.com/office/drawing/2014/main" id="{A732B1A9-D1F4-BE4D-A6E9-4C9B24C70F4C}"/>
              </a:ext>
            </a:extLst>
          </p:cNvPr>
          <p:cNvSpPr>
            <a:spLocks noGrp="1"/>
          </p:cNvSpPr>
          <p:nvPr>
            <p:ph idx="1"/>
          </p:nvPr>
        </p:nvSpPr>
        <p:spPr/>
        <p:txBody>
          <a:bodyPr/>
          <a:lstStyle/>
          <a:p>
            <a:r>
              <a:rPr lang="en-GB" dirty="0">
                <a:latin typeface="American Typewriter" panose="02090604020004020304" pitchFamily="18" charset="77"/>
              </a:rPr>
              <a:t>The contribution of ICT (Information and Communication Technology) to society should aim to enhance quality of life, promote equality, and support sustainable development.</a:t>
            </a:r>
            <a:endParaRPr lang="en-KE" dirty="0">
              <a:latin typeface="American Typewriter" panose="02090604020004020304" pitchFamily="18" charset="77"/>
            </a:endParaRPr>
          </a:p>
        </p:txBody>
      </p:sp>
    </p:spTree>
    <p:extLst>
      <p:ext uri="{BB962C8B-B14F-4D97-AF65-F5344CB8AC3E}">
        <p14:creationId xmlns:p14="http://schemas.microsoft.com/office/powerpoint/2010/main" val="1322374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159A7-4E68-B34D-A5C6-110D044C78F3}"/>
              </a:ext>
            </a:extLst>
          </p:cNvPr>
          <p:cNvSpPr>
            <a:spLocks noGrp="1"/>
          </p:cNvSpPr>
          <p:nvPr>
            <p:ph type="ctrTitle"/>
          </p:nvPr>
        </p:nvSpPr>
        <p:spPr/>
        <p:txBody>
          <a:bodyPr/>
          <a:lstStyle/>
          <a:p>
            <a:r>
              <a:rPr lang="en-KE" dirty="0">
                <a:latin typeface="American Typewriter" panose="02090604020004020304" pitchFamily="18" charset="77"/>
              </a:rPr>
              <a:t>Social Informatics Theories</a:t>
            </a:r>
          </a:p>
        </p:txBody>
      </p:sp>
    </p:spTree>
    <p:extLst>
      <p:ext uri="{BB962C8B-B14F-4D97-AF65-F5344CB8AC3E}">
        <p14:creationId xmlns:p14="http://schemas.microsoft.com/office/powerpoint/2010/main" val="85645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DCA8-88CF-C145-9D81-615F293DD5AC}"/>
              </a:ext>
            </a:extLst>
          </p:cNvPr>
          <p:cNvSpPr>
            <a:spLocks noGrp="1"/>
          </p:cNvSpPr>
          <p:nvPr>
            <p:ph type="title"/>
          </p:nvPr>
        </p:nvSpPr>
        <p:spPr/>
        <p:txBody>
          <a:bodyPr/>
          <a:lstStyle/>
          <a:p>
            <a:r>
              <a:rPr lang="en-KE" dirty="0">
                <a:latin typeface="American Typewriter" panose="02090604020004020304" pitchFamily="18" charset="77"/>
              </a:rPr>
              <a:t>Technological Determinism Theory</a:t>
            </a:r>
          </a:p>
        </p:txBody>
      </p:sp>
      <p:sp>
        <p:nvSpPr>
          <p:cNvPr id="3" name="Content Placeholder 2">
            <a:extLst>
              <a:ext uri="{FF2B5EF4-FFF2-40B4-BE49-F238E27FC236}">
                <a16:creationId xmlns:a16="http://schemas.microsoft.com/office/drawing/2014/main" id="{39A5E3D5-D3AF-E640-95CE-A9E16CE55C55}"/>
              </a:ext>
            </a:extLst>
          </p:cNvPr>
          <p:cNvSpPr>
            <a:spLocks noGrp="1"/>
          </p:cNvSpPr>
          <p:nvPr>
            <p:ph idx="1"/>
          </p:nvPr>
        </p:nvSpPr>
        <p:spPr>
          <a:xfrm>
            <a:off x="2396836" y="1905000"/>
            <a:ext cx="9240982" cy="4648200"/>
          </a:xfrm>
        </p:spPr>
        <p:txBody>
          <a:bodyPr>
            <a:normAutofit fontScale="92500" lnSpcReduction="10000"/>
          </a:bodyPr>
          <a:lstStyle/>
          <a:p>
            <a:r>
              <a:rPr lang="en-GB" dirty="0">
                <a:latin typeface="American Typewriter" panose="02090604020004020304" pitchFamily="18" charset="77"/>
              </a:rPr>
              <a:t>Technological Determinism vs. Social Shaping of Technology</a:t>
            </a:r>
          </a:p>
          <a:p>
            <a:r>
              <a:rPr lang="en-GB" dirty="0">
                <a:latin typeface="American Typewriter" panose="02090604020004020304" pitchFamily="18" charset="77"/>
              </a:rPr>
              <a:t>The theory of technological determinism states that society, its values, organisation, and culture are frequently shaped by technology in an unavoidable one-way fashion.</a:t>
            </a:r>
          </a:p>
          <a:p>
            <a:r>
              <a:rPr lang="en-GB" b="1" dirty="0">
                <a:latin typeface="American Typewriter" panose="02090604020004020304" pitchFamily="18" charset="77"/>
              </a:rPr>
              <a:t>Key Ideas:</a:t>
            </a:r>
          </a:p>
          <a:p>
            <a:pPr>
              <a:buFont typeface="Arial" panose="020B0604020202020204" pitchFamily="34" charset="0"/>
              <a:buChar char="•"/>
            </a:pPr>
            <a:r>
              <a:rPr lang="en-GB" dirty="0">
                <a:latin typeface="American Typewriter" panose="02090604020004020304" pitchFamily="18" charset="77"/>
              </a:rPr>
              <a:t>Technology drives </a:t>
            </a:r>
            <a:r>
              <a:rPr lang="en-GB" b="1" dirty="0">
                <a:latin typeface="American Typewriter" panose="02090604020004020304" pitchFamily="18" charset="77"/>
              </a:rPr>
              <a:t>social change</a:t>
            </a:r>
            <a:r>
              <a:rPr lang="en-GB" dirty="0">
                <a:latin typeface="American Typewriter" panose="02090604020004020304" pitchFamily="18" charset="77"/>
              </a:rPr>
              <a:t>.</a:t>
            </a:r>
          </a:p>
          <a:p>
            <a:pPr>
              <a:buFont typeface="Arial" panose="020B0604020202020204" pitchFamily="34" charset="0"/>
              <a:buChar char="•"/>
            </a:pPr>
            <a:r>
              <a:rPr lang="en-GB" dirty="0">
                <a:latin typeface="American Typewriter" panose="02090604020004020304" pitchFamily="18" charset="77"/>
              </a:rPr>
              <a:t>Society adapts to new technologies, not the other way around.</a:t>
            </a:r>
          </a:p>
          <a:p>
            <a:pPr>
              <a:buFont typeface="Arial" panose="020B0604020202020204" pitchFamily="34" charset="0"/>
              <a:buChar char="•"/>
            </a:pPr>
            <a:r>
              <a:rPr lang="en-GB" dirty="0">
                <a:latin typeface="American Typewriter" panose="02090604020004020304" pitchFamily="18" charset="77"/>
              </a:rPr>
              <a:t>Technological innovation is seen as the </a:t>
            </a:r>
            <a:r>
              <a:rPr lang="en-GB" b="1" dirty="0">
                <a:latin typeface="American Typewriter" panose="02090604020004020304" pitchFamily="18" charset="77"/>
              </a:rPr>
              <a:t>primary force</a:t>
            </a:r>
            <a:r>
              <a:rPr lang="en-GB" dirty="0">
                <a:latin typeface="American Typewriter" panose="02090604020004020304" pitchFamily="18" charset="77"/>
              </a:rPr>
              <a:t> behind progress.</a:t>
            </a:r>
          </a:p>
          <a:p>
            <a:r>
              <a:rPr lang="en-GB" b="1" dirty="0">
                <a:latin typeface="American Typewriter" panose="02090604020004020304" pitchFamily="18" charset="77"/>
              </a:rPr>
              <a:t>Example:</a:t>
            </a:r>
          </a:p>
          <a:p>
            <a:pPr>
              <a:buFont typeface="Arial" panose="020B0604020202020204" pitchFamily="34" charset="0"/>
              <a:buChar char="•"/>
            </a:pPr>
            <a:r>
              <a:rPr lang="en-GB" dirty="0">
                <a:latin typeface="American Typewriter" panose="02090604020004020304" pitchFamily="18" charset="77"/>
              </a:rPr>
              <a:t>The invention of the internet </a:t>
            </a:r>
            <a:r>
              <a:rPr lang="en-GB" b="1" dirty="0">
                <a:latin typeface="American Typewriter" panose="02090604020004020304" pitchFamily="18" charset="77"/>
              </a:rPr>
              <a:t>caused</a:t>
            </a:r>
            <a:r>
              <a:rPr lang="en-GB" dirty="0">
                <a:latin typeface="American Typewriter" panose="02090604020004020304" pitchFamily="18" charset="77"/>
              </a:rPr>
              <a:t> globalization and changed how people communicate, work, and access information.</a:t>
            </a:r>
          </a:p>
          <a:p>
            <a:r>
              <a:rPr lang="en-GB" b="1" dirty="0">
                <a:latin typeface="American Typewriter" panose="02090604020004020304" pitchFamily="18" charset="77"/>
              </a:rPr>
              <a:t>Criticisms:</a:t>
            </a:r>
          </a:p>
          <a:p>
            <a:pPr lvl="1"/>
            <a:r>
              <a:rPr lang="en-GB" dirty="0"/>
              <a:t>It </a:t>
            </a:r>
            <a:r>
              <a:rPr lang="en-GB" b="1" dirty="0"/>
              <a:t>ignores human agency</a:t>
            </a:r>
            <a:r>
              <a:rPr lang="en-GB" dirty="0"/>
              <a:t>—as if technology develops independently of society.</a:t>
            </a:r>
          </a:p>
          <a:p>
            <a:pPr lvl="1"/>
            <a:r>
              <a:rPr lang="en-GB" dirty="0"/>
              <a:t>Overly simplistic and </a:t>
            </a:r>
            <a:r>
              <a:rPr lang="en-GB" b="1" dirty="0"/>
              <a:t>ignores cultural, political, and economic factors</a:t>
            </a:r>
            <a:r>
              <a:rPr lang="en-GB" dirty="0"/>
              <a:t>.</a:t>
            </a:r>
          </a:p>
          <a:p>
            <a:pPr marL="0" indent="0">
              <a:buNone/>
            </a:pPr>
            <a:endParaRPr lang="en-GB" b="1" dirty="0">
              <a:latin typeface="American Typewriter" panose="02090604020004020304" pitchFamily="18" charset="77"/>
            </a:endParaRPr>
          </a:p>
          <a:p>
            <a:endParaRPr lang="en-GB" dirty="0"/>
          </a:p>
          <a:p>
            <a:endParaRPr lang="en-KE" dirty="0"/>
          </a:p>
        </p:txBody>
      </p:sp>
    </p:spTree>
    <p:extLst>
      <p:ext uri="{BB962C8B-B14F-4D97-AF65-F5344CB8AC3E}">
        <p14:creationId xmlns:p14="http://schemas.microsoft.com/office/powerpoint/2010/main" val="3084980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44049-13E5-964A-BB99-C349A0357D03}"/>
              </a:ext>
            </a:extLst>
          </p:cNvPr>
          <p:cNvSpPr>
            <a:spLocks noGrp="1"/>
          </p:cNvSpPr>
          <p:nvPr>
            <p:ph type="title"/>
          </p:nvPr>
        </p:nvSpPr>
        <p:spPr/>
        <p:txBody>
          <a:bodyPr/>
          <a:lstStyle/>
          <a:p>
            <a:r>
              <a:rPr lang="en-GB" b="1" dirty="0">
                <a:latin typeface="American Typewriter" panose="02090604020004020304" pitchFamily="18" charset="77"/>
              </a:rPr>
              <a:t>Social Shaping of Technology (SST)</a:t>
            </a:r>
            <a:endParaRPr lang="en-KE" b="1" dirty="0">
              <a:latin typeface="American Typewriter" panose="02090604020004020304" pitchFamily="18" charset="77"/>
            </a:endParaRPr>
          </a:p>
        </p:txBody>
      </p:sp>
      <p:sp>
        <p:nvSpPr>
          <p:cNvPr id="3" name="Content Placeholder 2">
            <a:extLst>
              <a:ext uri="{FF2B5EF4-FFF2-40B4-BE49-F238E27FC236}">
                <a16:creationId xmlns:a16="http://schemas.microsoft.com/office/drawing/2014/main" id="{C06BBBB8-1BF5-A64F-ADF2-BED8E4DD59DE}"/>
              </a:ext>
            </a:extLst>
          </p:cNvPr>
          <p:cNvSpPr>
            <a:spLocks noGrp="1"/>
          </p:cNvSpPr>
          <p:nvPr>
            <p:ph idx="1"/>
          </p:nvPr>
        </p:nvSpPr>
        <p:spPr>
          <a:xfrm>
            <a:off x="2313710" y="1704109"/>
            <a:ext cx="9190902" cy="4959927"/>
          </a:xfrm>
        </p:spPr>
        <p:txBody>
          <a:bodyPr>
            <a:normAutofit lnSpcReduction="10000"/>
          </a:bodyPr>
          <a:lstStyle/>
          <a:p>
            <a:r>
              <a:rPr lang="en-GB" dirty="0"/>
              <a:t>SST argues that </a:t>
            </a:r>
            <a:r>
              <a:rPr lang="en-GB" b="1" dirty="0"/>
              <a:t>society shapes technology</a:t>
            </a:r>
            <a:r>
              <a:rPr lang="en-GB" dirty="0"/>
              <a:t>—technology is influenced by human choices, social norms, cultural values, and power structures.</a:t>
            </a:r>
          </a:p>
          <a:p>
            <a:r>
              <a:rPr lang="en-GB" b="1" dirty="0"/>
              <a:t>Key Ideas:</a:t>
            </a:r>
          </a:p>
          <a:p>
            <a:pPr>
              <a:buFont typeface="Arial" panose="020B0604020202020204" pitchFamily="34" charset="0"/>
              <a:buChar char="•"/>
            </a:pPr>
            <a:r>
              <a:rPr lang="en-GB" dirty="0"/>
              <a:t>Technological development is </a:t>
            </a:r>
            <a:r>
              <a:rPr lang="en-GB" b="1" dirty="0"/>
              <a:t>not inevitable</a:t>
            </a:r>
            <a:r>
              <a:rPr lang="en-GB" dirty="0"/>
              <a:t> or linear.</a:t>
            </a:r>
          </a:p>
          <a:p>
            <a:pPr>
              <a:buFont typeface="Arial" panose="020B0604020202020204" pitchFamily="34" charset="0"/>
              <a:buChar char="•"/>
            </a:pPr>
            <a:r>
              <a:rPr lang="en-GB" dirty="0"/>
              <a:t>Social, political, and economic factors influence what technologies are developed and how they are used.</a:t>
            </a:r>
          </a:p>
          <a:p>
            <a:pPr>
              <a:buFont typeface="Arial" panose="020B0604020202020204" pitchFamily="34" charset="0"/>
              <a:buChar char="•"/>
            </a:pPr>
            <a:r>
              <a:rPr lang="en-GB" dirty="0"/>
              <a:t>There are </a:t>
            </a:r>
            <a:r>
              <a:rPr lang="en-GB" b="1" dirty="0"/>
              <a:t>multiple possible outcomes</a:t>
            </a:r>
            <a:r>
              <a:rPr lang="en-GB" dirty="0"/>
              <a:t> for how technology can evolve.</a:t>
            </a:r>
          </a:p>
          <a:p>
            <a:r>
              <a:rPr lang="en-GB" b="1" dirty="0"/>
              <a:t>Example:</a:t>
            </a:r>
          </a:p>
          <a:p>
            <a:pPr>
              <a:buFont typeface="Arial" panose="020B0604020202020204" pitchFamily="34" charset="0"/>
              <a:buChar char="•"/>
            </a:pPr>
            <a:r>
              <a:rPr lang="en-GB" dirty="0"/>
              <a:t>The design of smartphones reflects social choices: privacy concerns, user feedback, market demands, and cultural aesthetics.</a:t>
            </a:r>
          </a:p>
          <a:p>
            <a:r>
              <a:rPr lang="en-GB" b="1" dirty="0"/>
              <a:t>Strengths:</a:t>
            </a:r>
          </a:p>
          <a:p>
            <a:pPr>
              <a:buFont typeface="Arial" panose="020B0604020202020204" pitchFamily="34" charset="0"/>
              <a:buChar char="•"/>
            </a:pPr>
            <a:r>
              <a:rPr lang="en-GB" dirty="0"/>
              <a:t>Emphasizes </a:t>
            </a:r>
            <a:r>
              <a:rPr lang="en-GB" b="1" dirty="0"/>
              <a:t>context, diversity, and human agency</a:t>
            </a:r>
            <a:r>
              <a:rPr lang="en-GB" dirty="0"/>
              <a:t>.</a:t>
            </a:r>
          </a:p>
          <a:p>
            <a:pPr>
              <a:buFont typeface="Arial" panose="020B0604020202020204" pitchFamily="34" charset="0"/>
              <a:buChar char="•"/>
            </a:pPr>
            <a:r>
              <a:rPr lang="en-GB" dirty="0"/>
              <a:t>Recognizes that different societies adopt and adapt technologies in unique ways.</a:t>
            </a:r>
          </a:p>
          <a:p>
            <a:endParaRPr lang="en-KE" dirty="0"/>
          </a:p>
        </p:txBody>
      </p:sp>
    </p:spTree>
    <p:extLst>
      <p:ext uri="{BB962C8B-B14F-4D97-AF65-F5344CB8AC3E}">
        <p14:creationId xmlns:p14="http://schemas.microsoft.com/office/powerpoint/2010/main" val="2542983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3056F-42DC-D44A-A4DE-99057FBEBCC9}"/>
              </a:ext>
            </a:extLst>
          </p:cNvPr>
          <p:cNvSpPr>
            <a:spLocks noGrp="1"/>
          </p:cNvSpPr>
          <p:nvPr>
            <p:ph type="title"/>
          </p:nvPr>
        </p:nvSpPr>
        <p:spPr/>
        <p:txBody>
          <a:bodyPr/>
          <a:lstStyle/>
          <a:p>
            <a:r>
              <a:rPr lang="en-KE" dirty="0"/>
              <a:t>Actor Network Theory</a:t>
            </a:r>
          </a:p>
        </p:txBody>
      </p:sp>
      <p:sp>
        <p:nvSpPr>
          <p:cNvPr id="3" name="Content Placeholder 2">
            <a:extLst>
              <a:ext uri="{FF2B5EF4-FFF2-40B4-BE49-F238E27FC236}">
                <a16:creationId xmlns:a16="http://schemas.microsoft.com/office/drawing/2014/main" id="{FEE49104-60C4-5D43-A9C4-01E34239AE21}"/>
              </a:ext>
            </a:extLst>
          </p:cNvPr>
          <p:cNvSpPr>
            <a:spLocks noGrp="1"/>
          </p:cNvSpPr>
          <p:nvPr>
            <p:ph idx="1"/>
          </p:nvPr>
        </p:nvSpPr>
        <p:spPr/>
        <p:txBody>
          <a:bodyPr/>
          <a:lstStyle/>
          <a:p>
            <a:r>
              <a:rPr lang="en-GB" dirty="0"/>
              <a:t>ANT sees the world as </a:t>
            </a:r>
            <a:r>
              <a:rPr lang="en-GB" b="1" dirty="0"/>
              <a:t>a network of interacting actors</a:t>
            </a:r>
            <a:r>
              <a:rPr lang="en-GB" dirty="0"/>
              <a:t>—not just people, but objects and systems too.</a:t>
            </a:r>
          </a:p>
          <a:p>
            <a:r>
              <a:rPr lang="en-GB" dirty="0"/>
              <a:t>Actor-Network Theory (ANT) is a framework that examines the interplay between humans, technology, and other entities in shaping the world. It views technology as an active participant in shaping outcomes, examining how users and developers interact with software and hardware to influence system functionality.</a:t>
            </a:r>
          </a:p>
          <a:p>
            <a:r>
              <a:rPr lang="en-GB" dirty="0"/>
              <a:t>it was developed by thinkers like </a:t>
            </a:r>
            <a:r>
              <a:rPr lang="en-GB" b="1" dirty="0"/>
              <a:t>Bruno Latour</a:t>
            </a:r>
            <a:r>
              <a:rPr lang="en-GB" dirty="0"/>
              <a:t>, </a:t>
            </a:r>
            <a:r>
              <a:rPr lang="en-GB" b="1" dirty="0"/>
              <a:t>Michel </a:t>
            </a:r>
            <a:r>
              <a:rPr lang="en-GB" b="1" dirty="0" err="1"/>
              <a:t>Callon</a:t>
            </a:r>
            <a:r>
              <a:rPr lang="en-GB" dirty="0"/>
              <a:t>, and </a:t>
            </a:r>
            <a:r>
              <a:rPr lang="en-GB" b="1" dirty="0"/>
              <a:t>John Law</a:t>
            </a:r>
            <a:r>
              <a:rPr lang="en-GB" dirty="0"/>
              <a:t>.</a:t>
            </a:r>
          </a:p>
          <a:p>
            <a:r>
              <a:rPr lang="en-GB" dirty="0"/>
              <a:t>Example: A smartphone app that tracks steps influences your behaviour  																									</a:t>
            </a:r>
            <a:endParaRPr lang="en-KE" dirty="0"/>
          </a:p>
        </p:txBody>
      </p:sp>
    </p:spTree>
    <p:extLst>
      <p:ext uri="{BB962C8B-B14F-4D97-AF65-F5344CB8AC3E}">
        <p14:creationId xmlns:p14="http://schemas.microsoft.com/office/powerpoint/2010/main" val="1804375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BA53-1F70-9943-A4E4-3B139C0A2005}"/>
              </a:ext>
            </a:extLst>
          </p:cNvPr>
          <p:cNvSpPr>
            <a:spLocks noGrp="1"/>
          </p:cNvSpPr>
          <p:nvPr>
            <p:ph type="title"/>
          </p:nvPr>
        </p:nvSpPr>
        <p:spPr>
          <a:xfrm>
            <a:off x="1565564" y="249382"/>
            <a:ext cx="10626436" cy="789710"/>
          </a:xfrm>
        </p:spPr>
        <p:txBody>
          <a:bodyPr>
            <a:normAutofit fontScale="90000"/>
          </a:bodyPr>
          <a:lstStyle/>
          <a:p>
            <a:r>
              <a:rPr lang="en-KE" dirty="0">
                <a:latin typeface="American Typewriter" panose="02090604020004020304" pitchFamily="18" charset="77"/>
              </a:rPr>
              <a:t>SCOT Theory: (Social Construction of Technology</a:t>
            </a:r>
          </a:p>
        </p:txBody>
      </p:sp>
      <p:sp>
        <p:nvSpPr>
          <p:cNvPr id="3" name="Content Placeholder 2">
            <a:extLst>
              <a:ext uri="{FF2B5EF4-FFF2-40B4-BE49-F238E27FC236}">
                <a16:creationId xmlns:a16="http://schemas.microsoft.com/office/drawing/2014/main" id="{E511FE45-3BB7-494E-B183-2737C7600B27}"/>
              </a:ext>
            </a:extLst>
          </p:cNvPr>
          <p:cNvSpPr>
            <a:spLocks noGrp="1"/>
          </p:cNvSpPr>
          <p:nvPr>
            <p:ph idx="1"/>
          </p:nvPr>
        </p:nvSpPr>
        <p:spPr>
          <a:xfrm>
            <a:off x="900546" y="1330037"/>
            <a:ext cx="10737274" cy="5389418"/>
          </a:xfrm>
        </p:spPr>
        <p:txBody>
          <a:bodyPr>
            <a:normAutofit fontScale="77500" lnSpcReduction="20000"/>
          </a:bodyPr>
          <a:lstStyle/>
          <a:p>
            <a:r>
              <a:rPr lang="en-GB" sz="2300" b="1" dirty="0">
                <a:latin typeface="American Typewriter" panose="02090604020004020304" pitchFamily="18" charset="77"/>
              </a:rPr>
              <a:t>SCOT (Social Construction of Technology)</a:t>
            </a:r>
            <a:r>
              <a:rPr lang="en-GB" sz="2300" dirty="0">
                <a:latin typeface="American Typewriter" panose="02090604020004020304" pitchFamily="18" charset="77"/>
              </a:rPr>
              <a:t> is a theory that explains how society shapes technology, not the other way around. It was developed in the 1980s by Trevor Pinch and Wiebe </a:t>
            </a:r>
            <a:r>
              <a:rPr lang="en-GB" sz="2300" dirty="0" err="1">
                <a:latin typeface="American Typewriter" panose="02090604020004020304" pitchFamily="18" charset="77"/>
              </a:rPr>
              <a:t>Bijker</a:t>
            </a:r>
            <a:r>
              <a:rPr lang="en-GB" sz="2300" dirty="0">
                <a:latin typeface="American Typewriter" panose="02090604020004020304" pitchFamily="18" charset="77"/>
              </a:rPr>
              <a:t>.</a:t>
            </a:r>
          </a:p>
          <a:p>
            <a:r>
              <a:rPr lang="en-GB" sz="2300" dirty="0">
                <a:latin typeface="American Typewriter" panose="02090604020004020304" pitchFamily="18" charset="77"/>
              </a:rPr>
              <a:t>Technology does not develop by itself—it's shaped by the social groups that use, influence, or reject it.</a:t>
            </a:r>
          </a:p>
          <a:p>
            <a:r>
              <a:rPr lang="en-GB" sz="2300" b="1" dirty="0">
                <a:latin typeface="American Typewriter" panose="02090604020004020304" pitchFamily="18" charset="77"/>
              </a:rPr>
              <a:t>SCOT</a:t>
            </a:r>
            <a:r>
              <a:rPr lang="en-GB" sz="2300" dirty="0">
                <a:latin typeface="American Typewriter" panose="02090604020004020304" pitchFamily="18" charset="77"/>
              </a:rPr>
              <a:t> argues that people, culture, politics, and social interests determine how technology is designed, used, and valued.</a:t>
            </a:r>
          </a:p>
          <a:p>
            <a:r>
              <a:rPr lang="en-KE" sz="2300" b="1" dirty="0">
                <a:latin typeface="American Typewriter" panose="02090604020004020304" pitchFamily="18" charset="77"/>
              </a:rPr>
              <a:t>Examples</a:t>
            </a:r>
          </a:p>
          <a:p>
            <a:pPr lvl="1"/>
            <a:r>
              <a:rPr lang="en-GB" sz="2300" dirty="0">
                <a:latin typeface="American Typewriter" panose="02090604020004020304" pitchFamily="18" charset="77"/>
              </a:rPr>
              <a:t>In the late 1800s, different social groups had different ideas about what a bicycle should be, some wanted a high-wheeler (fast but risky), Others pushed for safety bicycles (safer, more accessible). Eventually, the safety bicycle became the norm because it met the needs of more groups, including women and the elderly. SCOT shows that this outcome was not just about engineering—it was about social preferences and negotiations</a:t>
            </a:r>
            <a:r>
              <a:rPr lang="en-GB" sz="2300" dirty="0"/>
              <a:t>.</a:t>
            </a:r>
          </a:p>
          <a:p>
            <a:pPr lvl="1"/>
            <a:r>
              <a:rPr lang="en-GB" sz="2300" b="1" dirty="0">
                <a:latin typeface="American Typewriter" panose="02090604020004020304" pitchFamily="18" charset="77"/>
              </a:rPr>
              <a:t>Mobile Phones:  </a:t>
            </a:r>
            <a:r>
              <a:rPr lang="en-GB" sz="2300" dirty="0">
                <a:latin typeface="American Typewriter" panose="02090604020004020304" pitchFamily="18" charset="77"/>
              </a:rPr>
              <a:t>For teens: a tool for social connection, For businesspeople: a productivity tool. The same device is interpreted and used differently depending on the group.</a:t>
            </a:r>
          </a:p>
          <a:p>
            <a:pPr lvl="1"/>
            <a:r>
              <a:rPr lang="en-KE" sz="2300" b="1" dirty="0">
                <a:latin typeface="American Typewriter" panose="02090604020004020304" pitchFamily="18" charset="77"/>
              </a:rPr>
              <a:t> </a:t>
            </a:r>
            <a:r>
              <a:rPr lang="en-GB" sz="2300" b="1" dirty="0">
                <a:latin typeface="American Typewriter" panose="02090604020004020304" pitchFamily="18" charset="77"/>
              </a:rPr>
              <a:t>Medical Technologies (e.g., ultrasound): </a:t>
            </a:r>
            <a:r>
              <a:rPr lang="en-GB" sz="2300" dirty="0">
                <a:latin typeface="American Typewriter" panose="02090604020004020304" pitchFamily="18" charset="77"/>
              </a:rPr>
              <a:t>Doctors see ultrasound as a diagnostic tool, Parents may view it emotionally: as the first “picture” of their baby. Different uses and meanings are shaped by social context.</a:t>
            </a:r>
          </a:p>
          <a:p>
            <a:pPr marL="457200" lvl="1" indent="0">
              <a:buNone/>
            </a:pPr>
            <a:endParaRPr lang="en-GB" sz="2300" dirty="0"/>
          </a:p>
          <a:p>
            <a:pPr lvl="1"/>
            <a:endParaRPr lang="en-GB" sz="2300" dirty="0"/>
          </a:p>
          <a:p>
            <a:endParaRPr lang="en-KE" b="1" dirty="0"/>
          </a:p>
        </p:txBody>
      </p:sp>
    </p:spTree>
    <p:extLst>
      <p:ext uri="{BB962C8B-B14F-4D97-AF65-F5344CB8AC3E}">
        <p14:creationId xmlns:p14="http://schemas.microsoft.com/office/powerpoint/2010/main" val="1807176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BDEC-6F06-3A4E-81AA-18D68146CBEE}"/>
              </a:ext>
            </a:extLst>
          </p:cNvPr>
          <p:cNvSpPr>
            <a:spLocks noGrp="1"/>
          </p:cNvSpPr>
          <p:nvPr>
            <p:ph type="title"/>
          </p:nvPr>
        </p:nvSpPr>
        <p:spPr/>
        <p:txBody>
          <a:bodyPr/>
          <a:lstStyle/>
          <a:p>
            <a:r>
              <a:rPr lang="en-KE" b="1" dirty="0">
                <a:latin typeface="American Typewriter" panose="02090604020004020304" pitchFamily="18" charset="77"/>
              </a:rPr>
              <a:t>Diffusion of Innovation Theory</a:t>
            </a:r>
          </a:p>
        </p:txBody>
      </p:sp>
      <p:sp>
        <p:nvSpPr>
          <p:cNvPr id="3" name="Content Placeholder 2">
            <a:extLst>
              <a:ext uri="{FF2B5EF4-FFF2-40B4-BE49-F238E27FC236}">
                <a16:creationId xmlns:a16="http://schemas.microsoft.com/office/drawing/2014/main" id="{5D0D7B0B-82B3-AD42-A162-1220BEBB4E29}"/>
              </a:ext>
            </a:extLst>
          </p:cNvPr>
          <p:cNvSpPr>
            <a:spLocks noGrp="1"/>
          </p:cNvSpPr>
          <p:nvPr>
            <p:ph idx="1"/>
          </p:nvPr>
        </p:nvSpPr>
        <p:spPr>
          <a:xfrm>
            <a:off x="2286000" y="1302327"/>
            <a:ext cx="9218612" cy="5555673"/>
          </a:xfrm>
        </p:spPr>
        <p:txBody>
          <a:bodyPr>
            <a:normAutofit/>
          </a:bodyPr>
          <a:lstStyle/>
          <a:p>
            <a:r>
              <a:rPr lang="en-GB" dirty="0">
                <a:latin typeface="American Typewriter" panose="02090604020004020304" pitchFamily="18" charset="77"/>
              </a:rPr>
              <a:t>Diffusion of Innovations is a theory that explains how, why, and at what rate new ideas and technologies spread through cultures and societies.</a:t>
            </a:r>
          </a:p>
          <a:p>
            <a:r>
              <a:rPr lang="en-GB" dirty="0">
                <a:latin typeface="American Typewriter" panose="02090604020004020304" pitchFamily="18" charset="77"/>
              </a:rPr>
              <a:t>It focuses on the process by which an innovation is communicated over time among members of a social system.</a:t>
            </a:r>
          </a:p>
          <a:p>
            <a:r>
              <a:rPr lang="en-GB" dirty="0">
                <a:latin typeface="American Typewriter" panose="02090604020004020304" pitchFamily="18" charset="77"/>
              </a:rPr>
              <a:t>developed by Everett Rogers in 1962</a:t>
            </a:r>
          </a:p>
          <a:p>
            <a:r>
              <a:rPr lang="en-GB" b="1" dirty="0">
                <a:latin typeface="American Typewriter" panose="02090604020004020304" pitchFamily="18" charset="77"/>
              </a:rPr>
              <a:t>Examples</a:t>
            </a:r>
            <a:r>
              <a:rPr lang="en-GB" dirty="0">
                <a:latin typeface="American Typewriter" panose="02090604020004020304" pitchFamily="18" charset="77"/>
              </a:rPr>
              <a:t>:</a:t>
            </a:r>
          </a:p>
          <a:p>
            <a:r>
              <a:rPr lang="en-GB" b="1" dirty="0">
                <a:latin typeface="American Typewriter" panose="02090604020004020304" pitchFamily="18" charset="77"/>
              </a:rPr>
              <a:t>Smartphones</a:t>
            </a:r>
          </a:p>
          <a:p>
            <a:pPr lvl="1"/>
            <a:r>
              <a:rPr lang="en-GB" dirty="0">
                <a:latin typeface="American Typewriter" panose="02090604020004020304" pitchFamily="18" charset="77"/>
              </a:rPr>
              <a:t>Innovators tried early smartphone models.</a:t>
            </a:r>
          </a:p>
          <a:p>
            <a:pPr lvl="1"/>
            <a:r>
              <a:rPr lang="en-GB" dirty="0">
                <a:latin typeface="American Typewriter" panose="02090604020004020304" pitchFamily="18" charset="77"/>
              </a:rPr>
              <a:t>Early adopters promoted iPhone/Android as useful.</a:t>
            </a:r>
          </a:p>
          <a:p>
            <a:pPr lvl="1"/>
            <a:r>
              <a:rPr lang="en-GB" dirty="0">
                <a:latin typeface="American Typewriter" panose="02090604020004020304" pitchFamily="18" charset="77"/>
              </a:rPr>
              <a:t>Early and late majority adopted as smartphones became affordable.</a:t>
            </a:r>
          </a:p>
          <a:p>
            <a:pPr lvl="1"/>
            <a:r>
              <a:rPr lang="en-GB" dirty="0">
                <a:latin typeface="American Typewriter" panose="02090604020004020304" pitchFamily="18" charset="77"/>
              </a:rPr>
              <a:t>Laggards resisted until they became the norm.</a:t>
            </a:r>
          </a:p>
          <a:p>
            <a:r>
              <a:rPr lang="en-GB" b="1" dirty="0">
                <a:latin typeface="American Typewriter" panose="02090604020004020304" pitchFamily="18" charset="77"/>
              </a:rPr>
              <a:t>Agricultural Technologies</a:t>
            </a:r>
          </a:p>
          <a:p>
            <a:pPr lvl="1"/>
            <a:r>
              <a:rPr lang="en-GB" dirty="0">
                <a:latin typeface="American Typewriter" panose="02090604020004020304" pitchFamily="18" charset="77"/>
              </a:rPr>
              <a:t>Hybrid seeds, tractors, or irrigation systems often follow the DOI pattern in farming communities.</a:t>
            </a:r>
          </a:p>
          <a:p>
            <a:pPr lvl="1"/>
            <a:r>
              <a:rPr lang="en-GB" dirty="0">
                <a:latin typeface="American Typewriter" panose="02090604020004020304" pitchFamily="18" charset="77"/>
              </a:rPr>
              <a:t>Adoption depends on social networks and local demonstrations</a:t>
            </a:r>
          </a:p>
          <a:p>
            <a:endParaRPr lang="en-KE" dirty="0"/>
          </a:p>
        </p:txBody>
      </p:sp>
    </p:spTree>
    <p:extLst>
      <p:ext uri="{BB962C8B-B14F-4D97-AF65-F5344CB8AC3E}">
        <p14:creationId xmlns:p14="http://schemas.microsoft.com/office/powerpoint/2010/main" val="1638927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99D4A-CAE7-9B4A-9540-DFB597007D26}"/>
              </a:ext>
            </a:extLst>
          </p:cNvPr>
          <p:cNvSpPr>
            <a:spLocks noGrp="1"/>
          </p:cNvSpPr>
          <p:nvPr>
            <p:ph type="title"/>
          </p:nvPr>
        </p:nvSpPr>
        <p:spPr>
          <a:xfrm>
            <a:off x="2592924" y="624110"/>
            <a:ext cx="8911687" cy="1079999"/>
          </a:xfrm>
        </p:spPr>
        <p:txBody>
          <a:bodyPr/>
          <a:lstStyle/>
          <a:p>
            <a:r>
              <a:rPr lang="en-KE" b="1" dirty="0"/>
              <a:t>Diffusion of Innovation Theory</a:t>
            </a:r>
          </a:p>
        </p:txBody>
      </p:sp>
      <p:pic>
        <p:nvPicPr>
          <p:cNvPr id="4" name="Picture 3">
            <a:extLst>
              <a:ext uri="{FF2B5EF4-FFF2-40B4-BE49-F238E27FC236}">
                <a16:creationId xmlns:a16="http://schemas.microsoft.com/office/drawing/2014/main" id="{4E9629DA-7173-894C-844E-A1D69DD98195}"/>
              </a:ext>
            </a:extLst>
          </p:cNvPr>
          <p:cNvPicPr>
            <a:picLocks noChangeAspect="1"/>
          </p:cNvPicPr>
          <p:nvPr/>
        </p:nvPicPr>
        <p:blipFill>
          <a:blip r:embed="rId2"/>
          <a:stretch>
            <a:fillRect/>
          </a:stretch>
        </p:blipFill>
        <p:spPr>
          <a:xfrm>
            <a:off x="2592924" y="1905000"/>
            <a:ext cx="8802482" cy="4953000"/>
          </a:xfrm>
          <a:prstGeom prst="rect">
            <a:avLst/>
          </a:prstGeom>
        </p:spPr>
      </p:pic>
    </p:spTree>
    <p:extLst>
      <p:ext uri="{BB962C8B-B14F-4D97-AF65-F5344CB8AC3E}">
        <p14:creationId xmlns:p14="http://schemas.microsoft.com/office/powerpoint/2010/main" val="462142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3EE5-FC70-AB4A-8E27-A6C385323656}"/>
              </a:ext>
            </a:extLst>
          </p:cNvPr>
          <p:cNvSpPr>
            <a:spLocks noGrp="1"/>
          </p:cNvSpPr>
          <p:nvPr>
            <p:ph type="title"/>
          </p:nvPr>
        </p:nvSpPr>
        <p:spPr>
          <a:xfrm>
            <a:off x="2092036" y="624110"/>
            <a:ext cx="9412575" cy="1280890"/>
          </a:xfrm>
        </p:spPr>
        <p:txBody>
          <a:bodyPr/>
          <a:lstStyle/>
          <a:p>
            <a:r>
              <a:rPr lang="en-GB" dirty="0">
                <a:latin typeface="American Typewriter" panose="02090604020004020304" pitchFamily="18" charset="77"/>
              </a:rPr>
              <a:t>Criticism of Diffusion of Innovations</a:t>
            </a:r>
            <a:endParaRPr lang="en-KE" dirty="0">
              <a:latin typeface="American Typewriter" panose="02090604020004020304" pitchFamily="18" charset="77"/>
            </a:endParaRPr>
          </a:p>
        </p:txBody>
      </p:sp>
      <p:sp>
        <p:nvSpPr>
          <p:cNvPr id="6" name="TextBox 5">
            <a:extLst>
              <a:ext uri="{FF2B5EF4-FFF2-40B4-BE49-F238E27FC236}">
                <a16:creationId xmlns:a16="http://schemas.microsoft.com/office/drawing/2014/main" id="{D5EA85F3-828D-BB40-9E39-9CFDADA3C236}"/>
              </a:ext>
            </a:extLst>
          </p:cNvPr>
          <p:cNvSpPr txBox="1"/>
          <p:nvPr/>
        </p:nvSpPr>
        <p:spPr>
          <a:xfrm>
            <a:off x="1852250" y="2367678"/>
            <a:ext cx="10339750" cy="2585323"/>
          </a:xfrm>
          <a:prstGeom prst="rect">
            <a:avLst/>
          </a:prstGeom>
          <a:noFill/>
        </p:spPr>
        <p:txBody>
          <a:bodyPr wrap="square">
            <a:spAutoFit/>
          </a:bodyPr>
          <a:lstStyle/>
          <a:p>
            <a:r>
              <a:rPr lang="en-KE" dirty="0"/>
              <a:t>	</a:t>
            </a:r>
            <a:r>
              <a:rPr lang="en-KE" b="1" dirty="0">
                <a:latin typeface="American Typewriter" panose="02090604020004020304" pitchFamily="18" charset="77"/>
              </a:rPr>
              <a:t>Criticism    </a:t>
            </a:r>
            <a:r>
              <a:rPr lang="en-KE" dirty="0">
                <a:latin typeface="American Typewriter" panose="02090604020004020304" pitchFamily="18" charset="77"/>
              </a:rPr>
              <a:t>                           				 </a:t>
            </a:r>
            <a:r>
              <a:rPr lang="en-KE" b="1" dirty="0">
                <a:latin typeface="American Typewriter" panose="02090604020004020304" pitchFamily="18" charset="77"/>
              </a:rPr>
              <a:t>Explanation  </a:t>
            </a:r>
            <a:r>
              <a:rPr lang="en-KE" dirty="0">
                <a:latin typeface="American Typewriter" panose="02090604020004020304" pitchFamily="18" charset="77"/>
              </a:rPr>
              <a:t>    </a:t>
            </a:r>
          </a:p>
          <a:p>
            <a:pPr marL="285750" indent="-285750">
              <a:buFont typeface="Arial" panose="020B0604020202020204" pitchFamily="34" charset="0"/>
              <a:buChar char="•"/>
            </a:pPr>
            <a:r>
              <a:rPr lang="en-KE" b="1" dirty="0">
                <a:latin typeface="American Typewriter" panose="02090604020004020304" pitchFamily="18" charset="77"/>
              </a:rPr>
              <a:t>Technological Bias</a:t>
            </a:r>
            <a:r>
              <a:rPr lang="en-KE" dirty="0">
                <a:latin typeface="American Typewriter" panose="02090604020004020304" pitchFamily="18" charset="77"/>
              </a:rPr>
              <a:t>: Assumes innovation is inherently good and adoption is always beneficial.                                </a:t>
            </a:r>
          </a:p>
          <a:p>
            <a:pPr marL="285750" indent="-285750">
              <a:buFont typeface="Arial" panose="020B0604020202020204" pitchFamily="34" charset="0"/>
              <a:buChar char="•"/>
            </a:pPr>
            <a:r>
              <a:rPr lang="en-KE" b="1" dirty="0">
                <a:latin typeface="American Typewriter" panose="02090604020004020304" pitchFamily="18" charset="77"/>
              </a:rPr>
              <a:t>Over-simplifies social factors</a:t>
            </a:r>
            <a:r>
              <a:rPr lang="en-KE" dirty="0">
                <a:latin typeface="American Typewriter" panose="02090604020004020304" pitchFamily="18" charset="77"/>
              </a:rPr>
              <a:t>: Doesn’t fully account for power, inequality, or resistance to change due to culture or economics.       </a:t>
            </a:r>
          </a:p>
          <a:p>
            <a:pPr marL="285750" indent="-285750">
              <a:buFont typeface="Arial" panose="020B0604020202020204" pitchFamily="34" charset="0"/>
              <a:buChar char="•"/>
            </a:pPr>
            <a:r>
              <a:rPr lang="en-KE" b="1" dirty="0">
                <a:latin typeface="American Typewriter" panose="02090604020004020304" pitchFamily="18" charset="77"/>
              </a:rPr>
              <a:t>Blames individuals for non-adoption:  </a:t>
            </a:r>
            <a:r>
              <a:rPr lang="en-KE" dirty="0">
                <a:latin typeface="American Typewriter" panose="02090604020004020304" pitchFamily="18" charset="77"/>
              </a:rPr>
              <a:t>Labels laggards negatively without understanding valid reasons (e.g., cost, accessibility).             </a:t>
            </a:r>
          </a:p>
          <a:p>
            <a:pPr marL="285750" indent="-285750">
              <a:buFont typeface="Arial" panose="020B0604020202020204" pitchFamily="34" charset="0"/>
              <a:buChar char="•"/>
            </a:pPr>
            <a:r>
              <a:rPr lang="en-KE" b="1" dirty="0">
                <a:latin typeface="American Typewriter" panose="02090604020004020304" pitchFamily="18" charset="77"/>
              </a:rPr>
              <a:t>Western-centric perspective: </a:t>
            </a:r>
            <a:r>
              <a:rPr lang="en-KE" dirty="0">
                <a:latin typeface="American Typewriter" panose="02090604020004020304" pitchFamily="18" charset="77"/>
              </a:rPr>
              <a:t>Originally based on U.S. studies; doesn’t always apply well to different cultural or economic contexts</a:t>
            </a:r>
            <a:r>
              <a:rPr lang="en-KE" dirty="0"/>
              <a:t>. </a:t>
            </a:r>
          </a:p>
        </p:txBody>
      </p:sp>
    </p:spTree>
    <p:extLst>
      <p:ext uri="{BB962C8B-B14F-4D97-AF65-F5344CB8AC3E}">
        <p14:creationId xmlns:p14="http://schemas.microsoft.com/office/powerpoint/2010/main" val="423780246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{0BA5E43C-B0D3-DF47-992B-A3826390A492}tf10001069</Template>
  <TotalTime>208</TotalTime>
  <Words>943</Words>
  <Application>Microsoft Macintosh PowerPoint</Application>
  <PresentationFormat>Widescreen</PresentationFormat>
  <Paragraphs>64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American Typewriter</vt:lpstr>
      <vt:lpstr>Arial</vt:lpstr>
      <vt:lpstr>Century Gothic</vt:lpstr>
      <vt:lpstr>Wingdings 3</vt:lpstr>
      <vt:lpstr>Wisp</vt:lpstr>
      <vt:lpstr>SOCIAL INFORMATICS</vt:lpstr>
      <vt:lpstr>Scope of Social Informatics</vt:lpstr>
      <vt:lpstr>ICT and Society</vt:lpstr>
      <vt:lpstr>Social Informatics Theories</vt:lpstr>
      <vt:lpstr>Technological Determinism Theory</vt:lpstr>
      <vt:lpstr>Social Shaping of Technology (SST)</vt:lpstr>
      <vt:lpstr>Actor Network Theory</vt:lpstr>
      <vt:lpstr>SCOT Theory: (Social Construction of Technology</vt:lpstr>
      <vt:lpstr>Diffusion of Innovation Theory</vt:lpstr>
      <vt:lpstr>Diffusion of Innovation Theory</vt:lpstr>
      <vt:lpstr>Criticism of Diffusion of Innovations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INFORMATICS</dc:title>
  <dc:creator>Microsoft Office User</dc:creator>
  <cp:lastModifiedBy>Microsoft Office User</cp:lastModifiedBy>
  <cp:revision>7</cp:revision>
  <dcterms:created xsi:type="dcterms:W3CDTF">2025-05-27T07:08:34Z</dcterms:created>
  <dcterms:modified xsi:type="dcterms:W3CDTF">2025-05-27T10:37:28Z</dcterms:modified>
</cp:coreProperties>
</file>