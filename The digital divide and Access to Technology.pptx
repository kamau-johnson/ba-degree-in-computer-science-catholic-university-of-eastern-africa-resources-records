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6" r:id="rId8"/>
    <p:sldId id="265" r:id="rId9"/>
    <p:sldId id="262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849"/>
  </p:normalViewPr>
  <p:slideViewPr>
    <p:cSldViewPr snapToGrid="0" snapToObjects="1">
      <p:cViewPr varScale="1">
        <p:scale>
          <a:sx n="92" d="100"/>
          <a:sy n="92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D39DB-A211-1742-AD32-23ACB31AA528}" type="datetimeFigureOut">
              <a:rPr lang="en-KE" smtClean="0"/>
              <a:t>03/06/2025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709432A-495C-4945-B66B-3E77A58B35C9}" type="slidenum">
              <a:rPr lang="en-KE" smtClean="0"/>
              <a:t>‹#›</a:t>
            </a:fld>
            <a:endParaRPr lang="en-KE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41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D39DB-A211-1742-AD32-23ACB31AA528}" type="datetimeFigureOut">
              <a:rPr lang="en-KE" smtClean="0"/>
              <a:t>03/06/2025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9432A-495C-4945-B66B-3E77A58B35C9}" type="slidenum">
              <a:rPr lang="en-KE" smtClean="0"/>
              <a:t>‹#›</a:t>
            </a:fld>
            <a:endParaRPr lang="en-KE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69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D39DB-A211-1742-AD32-23ACB31AA528}" type="datetimeFigureOut">
              <a:rPr lang="en-KE" smtClean="0"/>
              <a:t>03/06/2025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9432A-495C-4945-B66B-3E77A58B35C9}" type="slidenum">
              <a:rPr lang="en-KE" smtClean="0"/>
              <a:t>‹#›</a:t>
            </a:fld>
            <a:endParaRPr lang="en-K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29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D39DB-A211-1742-AD32-23ACB31AA528}" type="datetimeFigureOut">
              <a:rPr lang="en-KE" smtClean="0"/>
              <a:t>03/06/2025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9432A-495C-4945-B66B-3E77A58B35C9}" type="slidenum">
              <a:rPr lang="en-KE" smtClean="0"/>
              <a:t>‹#›</a:t>
            </a:fld>
            <a:endParaRPr lang="en-KE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083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D39DB-A211-1742-AD32-23ACB31AA528}" type="datetimeFigureOut">
              <a:rPr lang="en-KE" smtClean="0"/>
              <a:t>03/06/2025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9432A-495C-4945-B66B-3E77A58B35C9}" type="slidenum">
              <a:rPr lang="en-KE" smtClean="0"/>
              <a:t>‹#›</a:t>
            </a:fld>
            <a:endParaRPr lang="en-KE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39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D39DB-A211-1742-AD32-23ACB31AA528}" type="datetimeFigureOut">
              <a:rPr lang="en-KE" smtClean="0"/>
              <a:t>03/06/2025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9432A-495C-4945-B66B-3E77A58B35C9}" type="slidenum">
              <a:rPr lang="en-KE" smtClean="0"/>
              <a:t>‹#›</a:t>
            </a:fld>
            <a:endParaRPr lang="en-KE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612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D39DB-A211-1742-AD32-23ACB31AA528}" type="datetimeFigureOut">
              <a:rPr lang="en-KE" smtClean="0"/>
              <a:t>03/06/2025</a:t>
            </a:fld>
            <a:endParaRPr lang="en-K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9432A-495C-4945-B66B-3E77A58B35C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394642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D39DB-A211-1742-AD32-23ACB31AA528}" type="datetimeFigureOut">
              <a:rPr lang="en-KE" smtClean="0"/>
              <a:t>03/06/2025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9432A-495C-4945-B66B-3E77A58B35C9}" type="slidenum">
              <a:rPr lang="en-KE" smtClean="0"/>
              <a:t>‹#›</a:t>
            </a:fld>
            <a:endParaRPr lang="en-KE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914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C2D39DB-A211-1742-AD32-23ACB31AA528}" type="datetimeFigureOut">
              <a:rPr lang="en-KE" smtClean="0"/>
              <a:t>03/06/2025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9432A-495C-4945-B66B-3E77A58B35C9}" type="slidenum">
              <a:rPr lang="en-KE" smtClean="0"/>
              <a:t>‹#›</a:t>
            </a:fld>
            <a:endParaRPr lang="en-KE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53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D39DB-A211-1742-AD32-23ACB31AA528}" type="datetimeFigureOut">
              <a:rPr lang="en-KE" smtClean="0"/>
              <a:t>03/06/2025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9432A-495C-4945-B66B-3E77A58B35C9}" type="slidenum">
              <a:rPr lang="en-KE" smtClean="0"/>
              <a:t>‹#›</a:t>
            </a:fld>
            <a:endParaRPr lang="en-KE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690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D39DB-A211-1742-AD32-23ACB31AA528}" type="datetimeFigureOut">
              <a:rPr lang="en-KE" smtClean="0"/>
              <a:t>03/06/2025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9432A-495C-4945-B66B-3E77A58B35C9}" type="slidenum">
              <a:rPr lang="en-KE" smtClean="0"/>
              <a:t>‹#›</a:t>
            </a:fld>
            <a:endParaRPr lang="en-KE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589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D39DB-A211-1742-AD32-23ACB31AA528}" type="datetimeFigureOut">
              <a:rPr lang="en-KE" smtClean="0"/>
              <a:t>03/06/2025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709432A-495C-4945-B66B-3E77A58B35C9}" type="slidenum">
              <a:rPr lang="en-KE" smtClean="0"/>
              <a:t>‹#›</a:t>
            </a:fld>
            <a:endParaRPr lang="en-KE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478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8200-13C3-4340-B90B-C445B5A761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latin typeface="American Typewriter Condensed" panose="02090606020004020304" pitchFamily="18" charset="77"/>
              </a:rPr>
              <a:t>T</a:t>
            </a:r>
            <a:r>
              <a:rPr lang="en-KE" b="1" dirty="0">
                <a:latin typeface="American Typewriter Condensed" panose="02090606020004020304" pitchFamily="18" charset="77"/>
              </a:rPr>
              <a:t>HE DIGITAL DIVIDE AND ACCESS TO 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2C56C-A744-FD46-8088-529E6CCDFF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KE" dirty="0">
              <a:latin typeface="American Typewriter" panose="02090604020004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1943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6ECAD-4CF7-6545-9425-1D510A67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dirty="0"/>
              <a:t>UNDERSTANDING THE DIGITAL DIVIDE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52B65-5123-FD4E-8809-BF0717C57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digital divide is the disparity in access to, use, and knowledge of information and communication technologies (ICTs) among different socio-economic groups, impacting education, employment, economic development, healthcare, and civic engagement.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93582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E3EE2-BC25-914B-9B35-2855CC54B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913445"/>
          </a:xfrm>
        </p:spPr>
        <p:txBody>
          <a:bodyPr/>
          <a:lstStyle/>
          <a:p>
            <a:r>
              <a:rPr lang="en-KE" dirty="0"/>
              <a:t>Dimensions of digital divide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4E475-E887-004B-9C02-A3AE1520B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11928"/>
            <a:ext cx="9978421" cy="4239490"/>
          </a:xfrm>
        </p:spPr>
        <p:txBody>
          <a:bodyPr>
            <a:noAutofit/>
          </a:bodyPr>
          <a:lstStyle/>
          <a:p>
            <a:r>
              <a:rPr lang="en-GB" b="1" dirty="0"/>
              <a:t>Access Divide</a:t>
            </a:r>
            <a:r>
              <a:rPr lang="en-GB" dirty="0"/>
              <a:t>: This is the most fundamental level: whether people have physical access to digital tools like computers, smartphones, and high-speed internet.</a:t>
            </a:r>
          </a:p>
          <a:p>
            <a:r>
              <a:rPr lang="en-GB" b="1" dirty="0"/>
              <a:t>Use :Divide </a:t>
            </a:r>
            <a:r>
              <a:rPr lang="en-GB" dirty="0"/>
              <a:t>Even with access, not everyone is equally capable of using technology successfully. This encompasses a lack of digital knowledge and skills.</a:t>
            </a:r>
          </a:p>
          <a:p>
            <a:r>
              <a:rPr lang="en-GB" b="1" dirty="0"/>
              <a:t>Quality Divide: </a:t>
            </a:r>
            <a:r>
              <a:rPr lang="en-GB" dirty="0"/>
              <a:t>Access quality disparities, such as sluggish internet speeds, old devices, or limited data, might prevent meaningful engagement in the digital world.</a:t>
            </a:r>
          </a:p>
          <a:p>
            <a:r>
              <a:rPr lang="en-GB" b="1" dirty="0"/>
              <a:t>Economic Divide</a:t>
            </a:r>
            <a:r>
              <a:rPr lang="en-GB" dirty="0"/>
              <a:t>: People with lesser earnings frequently cannot purchase gadgets or services, hence creating inequality.</a:t>
            </a:r>
          </a:p>
          <a:p>
            <a:r>
              <a:rPr lang="en-GB" b="1" dirty="0"/>
              <a:t>Geographic Divide</a:t>
            </a:r>
            <a:r>
              <a:rPr lang="en-GB" dirty="0"/>
              <a:t>: Rural and remote locations typically have less infrastructure and services than urban areas.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365745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6E1B-DC94-914D-8F2E-7C968408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KE" dirty="0"/>
              <a:t>auses of digital divide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AF2DB-4358-1D45-942A-625705DCA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Economic inequality</a:t>
            </a:r>
          </a:p>
          <a:p>
            <a:pPr lvl="1"/>
            <a:r>
              <a:rPr lang="en-GB" b="1" dirty="0"/>
              <a:t>Income level:</a:t>
            </a:r>
            <a:r>
              <a:rPr lang="en-GB" dirty="0"/>
              <a:t> Lower-income individuals or households often cannot afford devices, internet subscriptions, or data plans.</a:t>
            </a:r>
          </a:p>
          <a:p>
            <a:pPr lvl="1"/>
            <a:r>
              <a:rPr lang="en-GB" b="1" dirty="0"/>
              <a:t>Device quality:</a:t>
            </a:r>
            <a:r>
              <a:rPr lang="en-GB" dirty="0"/>
              <a:t> Cheaper or older devices may not support certain applications or updates.</a:t>
            </a:r>
          </a:p>
          <a:p>
            <a:pPr lvl="1"/>
            <a:r>
              <a:rPr lang="en-GB" b="1" dirty="0"/>
              <a:t>Infrastructure investment:</a:t>
            </a:r>
            <a:r>
              <a:rPr lang="en-GB" dirty="0"/>
              <a:t> Poorer regions, especially rural areas, may lack investment in digital infrastructure like </a:t>
            </a:r>
            <a:r>
              <a:rPr lang="en-GB" dirty="0" err="1"/>
              <a:t>fiber</a:t>
            </a:r>
            <a:r>
              <a:rPr lang="en-GB" dirty="0"/>
              <a:t> optics or 5G networks.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Educational disparities</a:t>
            </a:r>
          </a:p>
          <a:p>
            <a:pPr lvl="1"/>
            <a:r>
              <a:rPr lang="en-GB" b="1" dirty="0"/>
              <a:t>Digital literacy:</a:t>
            </a:r>
            <a:r>
              <a:rPr lang="en-GB" dirty="0"/>
              <a:t> People with limited education may struggle to develop the digital skills needed to use technology effectively.</a:t>
            </a:r>
          </a:p>
          <a:p>
            <a:pPr lvl="1"/>
            <a:r>
              <a:rPr lang="en-GB" b="1" dirty="0"/>
              <a:t>Access to digital education:</a:t>
            </a:r>
            <a:r>
              <a:rPr lang="en-GB" dirty="0"/>
              <a:t> Schools in underfunded or rural areas may lack the resources to teach computer skills or provide access to digital devices.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965366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309D5-8B72-B945-AB9C-B3167B88E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KE" dirty="0"/>
              <a:t>auses of digital divide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1F331-A746-BB4C-B3B6-D10BA6A02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4037749"/>
          </a:xfrm>
        </p:spPr>
        <p:txBody>
          <a:bodyPr>
            <a:normAutofit/>
          </a:bodyPr>
          <a:lstStyle/>
          <a:p>
            <a:r>
              <a:rPr lang="en-GB" b="1" dirty="0"/>
              <a:t>Geographical Factors</a:t>
            </a:r>
          </a:p>
          <a:p>
            <a:pPr lvl="1"/>
            <a:r>
              <a:rPr lang="en-GB" b="1" dirty="0"/>
              <a:t>Urban vs. rural divide:</a:t>
            </a:r>
            <a:r>
              <a:rPr lang="en-GB" dirty="0"/>
              <a:t> Rural and remote areas often have limited or no access to high-speed internet.</a:t>
            </a:r>
          </a:p>
          <a:p>
            <a:pPr lvl="1"/>
            <a:r>
              <a:rPr lang="en-GB" b="1" dirty="0"/>
              <a:t>Infrastructure disparity:</a:t>
            </a:r>
            <a:r>
              <a:rPr lang="en-GB" dirty="0"/>
              <a:t> Urban centres are more likely to have better connectivity and more public access points (e.g., libraries, internet cafés).</a:t>
            </a:r>
            <a:endParaRPr lang="en-GB" b="1" dirty="0"/>
          </a:p>
          <a:p>
            <a:pPr lvl="1"/>
            <a:r>
              <a:rPr lang="en-GB" b="1" dirty="0"/>
              <a:t>Urban vs. rural divide:</a:t>
            </a:r>
            <a:r>
              <a:rPr lang="en-GB" dirty="0"/>
              <a:t> Rural and remote areas often have limited or no access to high-speed internet.</a:t>
            </a:r>
          </a:p>
          <a:p>
            <a:pPr lvl="1"/>
            <a:r>
              <a:rPr lang="en-GB" b="1" dirty="0"/>
              <a:t>Infrastructure disparity:</a:t>
            </a:r>
            <a:r>
              <a:rPr lang="en-GB" dirty="0"/>
              <a:t> Urban centres are more likely to have better connectivity and more public access points (e.g., libraries, internet cafés).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7879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89C10-1EF9-6646-8E09-21E3AA5E9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KE" dirty="0"/>
              <a:t>auses of digital divide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6D1C2-2AD7-954F-A70C-955864575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Social and Demographic Factors</a:t>
            </a:r>
          </a:p>
          <a:p>
            <a:pPr lvl="1"/>
            <a:r>
              <a:rPr lang="en-GB" b="1" dirty="0"/>
              <a:t>Age:</a:t>
            </a:r>
            <a:r>
              <a:rPr lang="en-GB" dirty="0"/>
              <a:t> Older adults are often less digitally literate or more hesitant to adopt new technologies.</a:t>
            </a:r>
          </a:p>
          <a:p>
            <a:pPr lvl="1"/>
            <a:r>
              <a:rPr lang="en-GB" b="1" dirty="0"/>
              <a:t>Gender:</a:t>
            </a:r>
            <a:r>
              <a:rPr lang="en-GB" dirty="0"/>
              <a:t> In some regions, women and girls have less access to technology due to social norms or safety concerns.</a:t>
            </a:r>
          </a:p>
          <a:p>
            <a:pPr lvl="1"/>
            <a:r>
              <a:rPr lang="en-GB" b="1" dirty="0"/>
              <a:t>Disability:</a:t>
            </a:r>
            <a:r>
              <a:rPr lang="en-GB" dirty="0"/>
              <a:t> Individuals with disabilities may face barriers if digital tools and content are not accessible.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520339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B1D05-FB1D-6541-B739-6291FFB7C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KE" dirty="0"/>
              <a:t>auses of digital divide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1DDBB-C4B5-354C-9141-E0682FDA0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Technological Changes</a:t>
            </a:r>
          </a:p>
          <a:p>
            <a:pPr lvl="1"/>
            <a:r>
              <a:rPr lang="en-GB" b="1" dirty="0"/>
              <a:t>Rapid innovation:</a:t>
            </a:r>
            <a:r>
              <a:rPr lang="en-GB" dirty="0"/>
              <a:t> The pace of technological change can leave some groups behind, especially those without continuous access to education or devices.</a:t>
            </a:r>
          </a:p>
          <a:p>
            <a:pPr lvl="1"/>
            <a:r>
              <a:rPr lang="en-GB" b="1" dirty="0"/>
              <a:t>Obsolescence:</a:t>
            </a:r>
            <a:r>
              <a:rPr lang="en-GB" dirty="0"/>
              <a:t> Devices and software become outdated quickly, making it hard for low-income users to keep up.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715671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4104A-80C6-1A45-A073-AD8FEC292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KE" dirty="0"/>
              <a:t>auses of digital divide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5E1E2-6F4D-2C43-9A9A-CED1E9049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Policy and Regulatory Environment</a:t>
            </a:r>
          </a:p>
          <a:p>
            <a:pPr lvl="1"/>
            <a:r>
              <a:rPr lang="en-GB" b="1" dirty="0"/>
              <a:t>Government investment:</a:t>
            </a:r>
            <a:r>
              <a:rPr lang="en-GB" dirty="0"/>
              <a:t> Limited public investment in digital infrastructure or education widens the gap.</a:t>
            </a:r>
          </a:p>
          <a:p>
            <a:pPr lvl="1"/>
            <a:r>
              <a:rPr lang="en-GB" b="1" dirty="0"/>
              <a:t>Data costs and telecom regulations:</a:t>
            </a:r>
            <a:r>
              <a:rPr lang="en-GB" dirty="0"/>
              <a:t> High data prices and lack of competition among service providers can limit access.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463283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B35D0-219A-4440-A3F7-D80771257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KE" dirty="0"/>
              <a:t>auses of digital divide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2C7E8-8955-3D4A-BC02-60DD39930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Infrastructure limitations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Language and content availability</a:t>
            </a:r>
            <a:r>
              <a:rPr lang="en-GB" dirty="0"/>
              <a:t> (lack of relevant content in local languages or contexts)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Cultural and social norms</a:t>
            </a:r>
            <a:endParaRPr lang="en-GB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994700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D148C-5C64-F745-B643-F6D04FF17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KE" dirty="0"/>
              <a:t>onsequences of digital divide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8799C-A8A1-CB4F-9F54-8939EE759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Educational disadvantages</a:t>
            </a:r>
            <a:r>
              <a:rPr lang="en-GB" dirty="0"/>
              <a:t> (especially visible during COVID-19)</a:t>
            </a:r>
          </a:p>
          <a:p>
            <a:r>
              <a:rPr lang="en-GB" b="1" dirty="0"/>
              <a:t>Reduced job opportunities and digital economy participation</a:t>
            </a:r>
            <a:endParaRPr lang="en-GB" dirty="0"/>
          </a:p>
          <a:p>
            <a:r>
              <a:rPr lang="en-GB" b="1" dirty="0"/>
              <a:t>Limited access to health services (telemedicine, health information)</a:t>
            </a:r>
            <a:endParaRPr lang="en-GB" dirty="0"/>
          </a:p>
          <a:p>
            <a:r>
              <a:rPr lang="en-GB" b="1" dirty="0"/>
              <a:t>Exclusion from digital governance and civic participation</a:t>
            </a:r>
            <a:endParaRPr lang="en-GB" dirty="0"/>
          </a:p>
          <a:p>
            <a:r>
              <a:rPr lang="en-GB" b="1" dirty="0"/>
              <a:t>Widening social and economic inequalities</a:t>
            </a:r>
            <a:endParaRPr lang="en-GB" dirty="0"/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022613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E792-3A4F-8843-9C35-5E3115900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</a:t>
            </a:r>
            <a:r>
              <a:rPr lang="en-KE" dirty="0"/>
              <a:t>ridging the digital divide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17B0D-B4A4-8146-B018-F0D622512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Expanding broadband infrastructure</a:t>
            </a:r>
            <a:endParaRPr lang="en-GB" dirty="0"/>
          </a:p>
          <a:p>
            <a:r>
              <a:rPr lang="en-GB" b="1" dirty="0"/>
              <a:t>Providing affordable devices and data plans</a:t>
            </a:r>
            <a:endParaRPr lang="en-GB" dirty="0"/>
          </a:p>
          <a:p>
            <a:r>
              <a:rPr lang="en-GB" b="1" dirty="0"/>
              <a:t>Offering digital literacy training programs</a:t>
            </a:r>
            <a:endParaRPr lang="en-GB" dirty="0"/>
          </a:p>
          <a:p>
            <a:r>
              <a:rPr lang="en-GB" b="1" dirty="0"/>
              <a:t>Ensuring inclusive design for people with disabilities</a:t>
            </a:r>
            <a:endParaRPr lang="en-GB" dirty="0"/>
          </a:p>
          <a:p>
            <a:r>
              <a:rPr lang="en-GB" b="1" dirty="0"/>
              <a:t>Promoting local content creation and multilingual digital services</a:t>
            </a:r>
            <a:endParaRPr lang="en-GB" dirty="0"/>
          </a:p>
          <a:p>
            <a:r>
              <a:rPr lang="en-GB" b="1" dirty="0"/>
              <a:t>Policy support and public-private partnerships</a:t>
            </a:r>
            <a:endParaRPr lang="en-GB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94819373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{4BFC4361-710C-344F-BC47-2E7BE9306493}tf10001119_mac</Template>
  <TotalTime>90</TotalTime>
  <Words>655</Words>
  <Application>Microsoft Macintosh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American Typewriter</vt:lpstr>
      <vt:lpstr>AMERICAN TYPEWRITER CONDENSED</vt:lpstr>
      <vt:lpstr>Arial</vt:lpstr>
      <vt:lpstr>Gill Sans MT</vt:lpstr>
      <vt:lpstr>Gallery</vt:lpstr>
      <vt:lpstr>THE DIGITAL DIVIDE AND ACCESS TO TECHNOLOGY</vt:lpstr>
      <vt:lpstr>UNDERSTANDING THE DIGITAL DIVIDE</vt:lpstr>
      <vt:lpstr>Dimensions of digital divide</vt:lpstr>
      <vt:lpstr>Causes of digital divide</vt:lpstr>
      <vt:lpstr>Causes of digital divide</vt:lpstr>
      <vt:lpstr>Causes of digital divide</vt:lpstr>
      <vt:lpstr>Causes of digital divide</vt:lpstr>
      <vt:lpstr>Causes of digital divide</vt:lpstr>
      <vt:lpstr>Causes of digital divide</vt:lpstr>
      <vt:lpstr>Consequences of digital divide</vt:lpstr>
      <vt:lpstr>Bridging the digital divide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DIGITAL DIVIDE AND ACCESS TO TECHNOLOGY</dc:title>
  <dc:creator>Microsoft Office User</dc:creator>
  <cp:lastModifiedBy>Microsoft Office User</cp:lastModifiedBy>
  <cp:revision>5</cp:revision>
  <dcterms:created xsi:type="dcterms:W3CDTF">2025-06-03T07:50:08Z</dcterms:created>
  <dcterms:modified xsi:type="dcterms:W3CDTF">2025-06-03T09:20:57Z</dcterms:modified>
</cp:coreProperties>
</file>