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09"/>
  </p:normalViewPr>
  <p:slideViewPr>
    <p:cSldViewPr snapToGrid="0" snapToObjects="1">
      <p:cViewPr varScale="1">
        <p:scale>
          <a:sx n="92" d="100"/>
          <a:sy n="92" d="100"/>
        </p:scale>
        <p:origin x="7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A2F5-1C6A-7544-AF84-ECC3393E8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9ECC7-BB4F-5143-AAB8-1DFA8328B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DAAC3-0A0B-8745-A296-6AF8C6FA7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4B637-A412-8445-BC41-F3B010691621}" type="datetimeFigureOut">
              <a:rPr lang="en-KE" smtClean="0"/>
              <a:t>17/06/2025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826E9-6C3C-5846-80AF-E5366B52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16498-DD8B-DC47-82DA-A45D02CE2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4EA1-FC13-0642-8C61-8B78D019424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9062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DF7FD-E9FD-B443-A33A-5ED0EB2EC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30C56-F1CE-104A-8DD2-3913B25CC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597D3-294A-6141-8B38-8E305D3C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4B637-A412-8445-BC41-F3B010691621}" type="datetimeFigureOut">
              <a:rPr lang="en-KE" smtClean="0"/>
              <a:t>17/06/2025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1932B-D982-2B4F-A16C-D4F2BCF7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9613-D1E2-7D42-85EB-5599C8600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4EA1-FC13-0642-8C61-8B78D019424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493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D6D7-14A4-DF4C-845F-3F959D5E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C0184-B5C4-2E41-9037-6127220D9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9694E-5E81-9144-9831-61748732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4B637-A412-8445-BC41-F3B010691621}" type="datetimeFigureOut">
              <a:rPr lang="en-KE" smtClean="0"/>
              <a:t>17/06/2025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DC87C-310B-BD4C-B710-3C2D27CF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B7E31-7CE5-584F-ACBA-850D561E7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4EA1-FC13-0642-8C61-8B78D019424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0633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3F87-E2EA-3546-B6FB-8310954D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4E1D3-15B5-3C4B-BE81-7A91394D0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28DDA-E8FA-2945-9C82-82874B54C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57763-6E81-E140-A9ED-BE2B4D394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4B637-A412-8445-BC41-F3B010691621}" type="datetimeFigureOut">
              <a:rPr lang="en-KE" smtClean="0"/>
              <a:t>17/06/2025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CFCFE-0754-914B-B375-3F0794991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9352A-BBE1-6742-BD34-17151323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4EA1-FC13-0642-8C61-8B78D019424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2872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5FD5-BF21-AD41-BDC6-FFCA2BA51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36FAD-3114-484C-9599-D5A4CE6E0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5A8E6-5904-5F45-BBD9-1CF1C3D3E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16C714-A3BB-8749-8BC0-48E7769B5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268DCC-48E9-A149-8E84-535D26BEE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31D05-4893-BE48-8CE0-16941C4C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4B637-A412-8445-BC41-F3B010691621}" type="datetimeFigureOut">
              <a:rPr lang="en-KE" smtClean="0"/>
              <a:t>17/06/2025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6F4D5F-900C-D14A-BACE-5CDDFCF0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BB6AA-00AF-8B41-AACE-12AAC9DA8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4EA1-FC13-0642-8C61-8B78D019424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26025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E98CD-FB94-244F-B5E3-B46D91B7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64BB83-5D23-D743-B3E1-93F65D220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4B637-A412-8445-BC41-F3B010691621}" type="datetimeFigureOut">
              <a:rPr lang="en-KE" smtClean="0"/>
              <a:t>17/06/2025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6CCA9-DEA2-FD4A-82F4-EF4CEE0B9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1A958-6869-5744-AAF3-B7FFA066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4EA1-FC13-0642-8C61-8B78D019424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53021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1021C-3872-8047-842B-7DC530AC9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4B637-A412-8445-BC41-F3B010691621}" type="datetimeFigureOut">
              <a:rPr lang="en-KE" smtClean="0"/>
              <a:t>17/06/2025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F2C53-AD27-B543-B3D4-529F3B58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162FC-791F-A047-86A7-21CB1F41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4EA1-FC13-0642-8C61-8B78D019424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9613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0D36-108A-174A-9B71-3CA986D9B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2BF8D-4943-7849-9EFD-BB6B88ACB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4F43D-815E-E341-91F0-EA45984CF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45ECE-C983-4C40-9C29-286AC4033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4B637-A412-8445-BC41-F3B010691621}" type="datetimeFigureOut">
              <a:rPr lang="en-KE" smtClean="0"/>
              <a:t>17/06/2025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05A27-56E3-7045-9295-176727CF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5B16A-5866-A341-A6EA-F57169E6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4EA1-FC13-0642-8C61-8B78D019424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35849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CD056-FB05-BC44-8EF5-A1AB4D95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AEFD8-CA4F-2E4F-864B-CDE858BAD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5AEA2-60DB-EA40-9626-D8954B82E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16182-29A5-1E4A-A986-2F0F8E35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4B637-A412-8445-BC41-F3B010691621}" type="datetimeFigureOut">
              <a:rPr lang="en-KE" smtClean="0"/>
              <a:t>17/06/2025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F6522-B2E2-C14A-A587-4262957E8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05A60-30E6-024E-B149-5720C2AC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4EA1-FC13-0642-8C61-8B78D019424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1450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D6E2-9264-D14E-808C-097DFCF4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0E5D7-642A-0442-B253-AC13530FB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36584-B7E9-3F48-9684-98EE532A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4B637-A412-8445-BC41-F3B010691621}" type="datetimeFigureOut">
              <a:rPr lang="en-KE" smtClean="0"/>
              <a:t>17/06/2025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F0218-1F01-FC47-968F-159E179A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E1974-59D0-9449-BB42-88829E4A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4EA1-FC13-0642-8C61-8B78D019424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2181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B54F04-2102-6E4A-BB83-9D81458A9B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466A8-BFFA-4E44-B4F2-92986E036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CAE0F-4323-E64C-9350-39D055702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4B637-A412-8445-BC41-F3B010691621}" type="datetimeFigureOut">
              <a:rPr lang="en-KE" smtClean="0"/>
              <a:t>17/06/2025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72551-C499-7542-A32F-3D85BA1C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8AE2B-9AFF-4647-ABA6-294A766C7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4EA1-FC13-0642-8C61-8B78D019424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8871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818A1E-0633-0147-861F-AE88FAB5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16B58-4578-0743-AB9F-09938351D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BB530-B8D3-4246-B570-B97B2CE3B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4B637-A412-8445-BC41-F3B010691621}" type="datetimeFigureOut">
              <a:rPr lang="en-KE" smtClean="0"/>
              <a:t>17/06/2025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1CDF8-50FF-D848-998D-18DADA156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DCCD6-75F2-F04D-A3E0-0C8395593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44EA1-FC13-0642-8C61-8B78D019424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84552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1DC9-460A-B643-874D-7EC3B413CC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E" b="1" dirty="0">
                <a:latin typeface="American Typewriter" panose="02090604020004020304" pitchFamily="18" charset="77"/>
              </a:rPr>
              <a:t>TECHNOLOGY</a:t>
            </a:r>
            <a:r>
              <a:rPr lang="en-KE" b="1" dirty="0"/>
              <a:t> </a:t>
            </a:r>
            <a:r>
              <a:rPr lang="en-KE" b="1" dirty="0">
                <a:latin typeface="American Typewriter" panose="02090604020004020304" pitchFamily="18" charset="77"/>
              </a:rPr>
              <a:t>AND SOCIAL CHANGE</a:t>
            </a:r>
          </a:p>
        </p:txBody>
      </p:sp>
    </p:spTree>
    <p:extLst>
      <p:ext uri="{BB962C8B-B14F-4D97-AF65-F5344CB8AC3E}">
        <p14:creationId xmlns:p14="http://schemas.microsoft.com/office/powerpoint/2010/main" val="3864161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5544-7013-244A-B75C-5A176F2DB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b="1" dirty="0">
                <a:latin typeface="American Typewriter" panose="02090604020004020304" pitchFamily="18" charset="77"/>
              </a:rPr>
              <a:t>What is Social Change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F9261-48B5-4B41-BB0F-80046D9A7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latin typeface="American Typewriter" panose="02090604020004020304" pitchFamily="18" charset="77"/>
              </a:rPr>
              <a:t>Definition</a:t>
            </a:r>
            <a:r>
              <a:rPr lang="en-GB" dirty="0">
                <a:latin typeface="American Typewriter" panose="02090604020004020304" pitchFamily="18" charset="77"/>
              </a:rPr>
              <a:t>: Social change refers to shifts in societal norms, values, behaviours, institutions, and relationships over time.</a:t>
            </a:r>
          </a:p>
          <a:p>
            <a:r>
              <a:rPr lang="en-GB" b="1" dirty="0">
                <a:latin typeface="American Typewriter" panose="02090604020004020304" pitchFamily="18" charset="77"/>
              </a:rPr>
              <a:t>Examples</a:t>
            </a:r>
            <a:r>
              <a:rPr lang="en-GB" dirty="0">
                <a:latin typeface="American Typewriter" panose="02090604020004020304" pitchFamily="18" charset="77"/>
              </a:rPr>
              <a:t>: Changes in gender roles, civil rights movements, or shifts from rural to urban living.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91894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121B-8F24-494B-A372-894DBA85F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merican Typewriter" panose="02090604020004020304" pitchFamily="18" charset="77"/>
              </a:rPr>
              <a:t>How Technology Drives Social Change</a:t>
            </a:r>
            <a:endParaRPr lang="en-KE" b="1" dirty="0">
              <a:latin typeface="American Typewriter" panose="02090604020004020304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16C31-B648-B74D-B606-383669C65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latin typeface="American Typewriter" panose="02090604020004020304" pitchFamily="18" charset="77"/>
              </a:rPr>
              <a:t>Communication</a:t>
            </a:r>
            <a:r>
              <a:rPr lang="en-GB" dirty="0">
                <a:latin typeface="American Typewriter" panose="02090604020004020304" pitchFamily="18" charset="77"/>
              </a:rPr>
              <a:t>: Speeds up the spread of ideas (e.g., from printing press to social media).</a:t>
            </a:r>
          </a:p>
          <a:p>
            <a:r>
              <a:rPr lang="en-GB" b="1" dirty="0">
                <a:latin typeface="American Typewriter" panose="02090604020004020304" pitchFamily="18" charset="77"/>
              </a:rPr>
              <a:t>Work &amp; Economy</a:t>
            </a:r>
            <a:r>
              <a:rPr lang="en-GB" dirty="0">
                <a:latin typeface="American Typewriter" panose="02090604020004020304" pitchFamily="18" charset="77"/>
              </a:rPr>
              <a:t>: Automates labour, creates new jobs, and destroys old ones.</a:t>
            </a:r>
          </a:p>
          <a:p>
            <a:r>
              <a:rPr lang="en-GB" b="1" dirty="0">
                <a:latin typeface="American Typewriter" panose="02090604020004020304" pitchFamily="18" charset="77"/>
              </a:rPr>
              <a:t>Education</a:t>
            </a:r>
            <a:r>
              <a:rPr lang="en-GB" dirty="0">
                <a:latin typeface="American Typewriter" panose="02090604020004020304" pitchFamily="18" charset="77"/>
              </a:rPr>
              <a:t>: Provides access to learning across borders (e.g., online learning platforms).</a:t>
            </a:r>
          </a:p>
          <a:p>
            <a:r>
              <a:rPr lang="en-GB" b="1" dirty="0">
                <a:latin typeface="American Typewriter" panose="02090604020004020304" pitchFamily="18" charset="77"/>
              </a:rPr>
              <a:t>Culture &amp; Identity</a:t>
            </a:r>
            <a:r>
              <a:rPr lang="en-GB" dirty="0">
                <a:latin typeface="American Typewriter" panose="02090604020004020304" pitchFamily="18" charset="77"/>
              </a:rPr>
              <a:t>: Shapes how we express ourselves and form communities.</a:t>
            </a:r>
          </a:p>
          <a:p>
            <a:endParaRPr lang="en-KE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7062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B30C-4B3A-B34F-9261-D8F96F5A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American Typewriter" panose="02090604020004020304" pitchFamily="18" charset="77"/>
              </a:rPr>
              <a:t>Contemporary Technological Changes</a:t>
            </a:r>
            <a:br>
              <a:rPr lang="en-GB" b="1" dirty="0">
                <a:latin typeface="American Typewriter" panose="02090604020004020304" pitchFamily="18" charset="77"/>
              </a:rPr>
            </a:br>
            <a:endParaRPr lang="en-KE" dirty="0">
              <a:latin typeface="American Typewriter" panose="02090604020004020304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DF578-BF61-9840-832E-390D4FC4F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American Typewriter" panose="02090604020004020304" pitchFamily="18" charset="77"/>
              </a:rPr>
              <a:t>Internet &amp; Mobile Tech</a:t>
            </a:r>
            <a:r>
              <a:rPr lang="en-GB" dirty="0">
                <a:latin typeface="American Typewriter" panose="02090604020004020304" pitchFamily="18" charset="77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Enables instant global communication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Information sharing, e-commerce, and e-governance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American Typewriter" panose="02090604020004020304" pitchFamily="18" charset="77"/>
              </a:rPr>
              <a:t>Social Media</a:t>
            </a:r>
            <a:r>
              <a:rPr lang="en-GB" dirty="0">
                <a:latin typeface="American Typewriter" panose="02090604020004020304" pitchFamily="18" charset="77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Empowers individuals and movements (#MeToo, BLM)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Can also spread misinformation and polarization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American Typewriter" panose="02090604020004020304" pitchFamily="18" charset="77"/>
              </a:rPr>
              <a:t>Artificial Intelligence &amp; Automation</a:t>
            </a:r>
            <a:r>
              <a:rPr lang="en-GB" dirty="0">
                <a:latin typeface="American Typewriter" panose="02090604020004020304" pitchFamily="18" charset="77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Transforms jobs, healthcare, and manufacturing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Raises ethical concerns (e.g., bias, job loss)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American Typewriter" panose="02090604020004020304" pitchFamily="18" charset="77"/>
              </a:rPr>
              <a:t>Green Technology</a:t>
            </a:r>
            <a:r>
              <a:rPr lang="en-GB" dirty="0">
                <a:latin typeface="American Typewriter" panose="02090604020004020304" pitchFamily="18" charset="77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Supports sustainability efforts (e.g., solar, electric vehicles)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Pushes new social values (e.g., climate action)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182354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493B-FB65-7447-B70E-BF9FF851F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merican Typewriter" panose="02090604020004020304" pitchFamily="18" charset="77"/>
              </a:rPr>
              <a:t>The Role of ICTs in Social Movements and Activism</a:t>
            </a:r>
            <a:endParaRPr lang="en-KE" b="1" dirty="0">
              <a:latin typeface="American Typewriter" panose="02090604020004020304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5A449-C59A-4E41-85CA-ABB9298F0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>
                <a:latin typeface="American Typewriter" panose="02090604020004020304" pitchFamily="18" charset="77"/>
              </a:rPr>
              <a:t>Mobilization and Organization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ICTs allow activists to </a:t>
            </a:r>
            <a:r>
              <a:rPr lang="en-GB" b="1" dirty="0">
                <a:latin typeface="American Typewriter" panose="02090604020004020304" pitchFamily="18" charset="77"/>
              </a:rPr>
              <a:t>organize protests, events, and campaigns</a:t>
            </a:r>
            <a:r>
              <a:rPr lang="en-GB" dirty="0">
                <a:latin typeface="American Typewriter" panose="02090604020004020304" pitchFamily="18" charset="77"/>
              </a:rPr>
              <a:t> rapidly.</a:t>
            </a:r>
          </a:p>
          <a:p>
            <a:pPr lvl="1"/>
            <a:r>
              <a:rPr lang="en-GB" b="1" dirty="0">
                <a:latin typeface="American Typewriter" panose="02090604020004020304" pitchFamily="18" charset="77"/>
              </a:rPr>
              <a:t>Examples</a:t>
            </a:r>
            <a:r>
              <a:rPr lang="en-GB" dirty="0">
                <a:latin typeface="American Typewriter" panose="02090604020004020304" pitchFamily="18" charset="77"/>
              </a:rPr>
              <a:t>: Facebook events for climate strikes, WhatsApp groups used during protests for coordination, Hashtags like </a:t>
            </a:r>
            <a:r>
              <a:rPr lang="en-GB" b="1" dirty="0">
                <a:latin typeface="American Typewriter" panose="02090604020004020304" pitchFamily="18" charset="77"/>
              </a:rPr>
              <a:t>#MeToo</a:t>
            </a:r>
            <a:r>
              <a:rPr lang="en-GB" dirty="0">
                <a:latin typeface="American Typewriter" panose="02090604020004020304" pitchFamily="18" charset="77"/>
              </a:rPr>
              <a:t>, </a:t>
            </a:r>
            <a:r>
              <a:rPr lang="en-GB" b="1" dirty="0">
                <a:latin typeface="American Typewriter" panose="02090604020004020304" pitchFamily="18" charset="77"/>
              </a:rPr>
              <a:t>#</a:t>
            </a:r>
            <a:r>
              <a:rPr lang="en-GB" b="1" dirty="0" err="1">
                <a:latin typeface="American Typewriter" panose="02090604020004020304" pitchFamily="18" charset="77"/>
              </a:rPr>
              <a:t>EndSARS</a:t>
            </a:r>
            <a:r>
              <a:rPr lang="en-GB" dirty="0">
                <a:latin typeface="American Typewriter" panose="02090604020004020304" pitchFamily="18" charset="77"/>
              </a:rPr>
              <a:t>, </a:t>
            </a:r>
            <a:r>
              <a:rPr lang="en-GB" b="1" dirty="0">
                <a:latin typeface="American Typewriter" panose="02090604020004020304" pitchFamily="18" charset="77"/>
              </a:rPr>
              <a:t>#BlackLivesMatter</a:t>
            </a:r>
            <a:r>
              <a:rPr lang="en-GB" dirty="0">
                <a:latin typeface="American Typewriter" panose="02090604020004020304" pitchFamily="18" charset="77"/>
              </a:rPr>
              <a:t> that unite global voices, using X</a:t>
            </a:r>
          </a:p>
          <a:p>
            <a:r>
              <a:rPr lang="en-GB" b="1" dirty="0">
                <a:latin typeface="American Typewriter" panose="02090604020004020304" pitchFamily="18" charset="77"/>
              </a:rPr>
              <a:t>Amplifying Voices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Marginalized groups can share their stories without relying on mainstream media.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Livestreams and videos can go viral and bring attention to injustice.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Influencers and digital creators help spread activist messages.</a:t>
            </a:r>
          </a:p>
          <a:p>
            <a:endParaRPr lang="en-GB" dirty="0">
              <a:latin typeface="American Typewriter" panose="02090604020004020304" pitchFamily="18" charset="77"/>
            </a:endParaRPr>
          </a:p>
          <a:p>
            <a:endParaRPr lang="en-KE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3828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C861-3B50-1140-952A-8F9D8AED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merican Typewriter" panose="02090604020004020304" pitchFamily="18" charset="77"/>
              </a:rPr>
              <a:t>The Role of ICTs in Social Movements and Activism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4FBE-EF96-A346-B8B5-24E5AA39C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>
                <a:latin typeface="American Typewriter" panose="02090604020004020304" pitchFamily="18" charset="77"/>
              </a:rPr>
              <a:t>Raising Awareness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ICTs help educate the public about social, environmental, and political issues.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Infographics, blogs, and viral videos are tools for awareness.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Campaigns like </a:t>
            </a:r>
            <a:r>
              <a:rPr lang="en-GB" b="1" dirty="0">
                <a:latin typeface="American Typewriter" panose="02090604020004020304" pitchFamily="18" charset="77"/>
              </a:rPr>
              <a:t>#</a:t>
            </a:r>
            <a:r>
              <a:rPr lang="en-GB" b="1" dirty="0" err="1">
                <a:latin typeface="American Typewriter" panose="02090604020004020304" pitchFamily="18" charset="77"/>
              </a:rPr>
              <a:t>FridaysForFuture</a:t>
            </a:r>
            <a:r>
              <a:rPr lang="en-GB" dirty="0">
                <a:latin typeface="American Typewriter" panose="02090604020004020304" pitchFamily="18" charset="77"/>
              </a:rPr>
              <a:t> educate and engage youth globally.</a:t>
            </a:r>
          </a:p>
          <a:p>
            <a:r>
              <a:rPr lang="en-GB" b="1" dirty="0">
                <a:latin typeface="American Typewriter" panose="02090604020004020304" pitchFamily="18" charset="77"/>
              </a:rPr>
              <a:t>Crowdfunding and Resource Sharing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Platforms like GoFundMe, </a:t>
            </a:r>
            <a:r>
              <a:rPr lang="en-GB" dirty="0" err="1">
                <a:latin typeface="American Typewriter" panose="02090604020004020304" pitchFamily="18" charset="77"/>
              </a:rPr>
              <a:t>Patreon</a:t>
            </a:r>
            <a:r>
              <a:rPr lang="en-GB" dirty="0">
                <a:latin typeface="American Typewriter" panose="02090604020004020304" pitchFamily="18" charset="77"/>
              </a:rPr>
              <a:t>, or direct digital donations allow people to financially support movements.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Activists can share resources such as legal aid or protest safety guides.</a:t>
            </a:r>
          </a:p>
          <a:p>
            <a:r>
              <a:rPr lang="en-GB" b="1" dirty="0">
                <a:latin typeface="American Typewriter" panose="02090604020004020304" pitchFamily="18" charset="77"/>
              </a:rPr>
              <a:t>Counter-Narratives and Citizen Journalism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ICTs challenge dominant media narratives.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Individuals document events (e.g., police brutality) using smartphones.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Citizen journalists report from the ground in real time.</a:t>
            </a:r>
          </a:p>
          <a:p>
            <a:endParaRPr lang="en-GB" dirty="0">
              <a:latin typeface="American Typewriter" panose="02090604020004020304" pitchFamily="18" charset="77"/>
            </a:endParaRPr>
          </a:p>
          <a:p>
            <a:endParaRPr lang="en-KE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88058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E61-E955-1B41-8AB5-A067E30AE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256"/>
            <a:ext cx="10515600" cy="886690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American Typewriter" panose="02090604020004020304" pitchFamily="18" charset="77"/>
              </a:rPr>
              <a:t>ICTs and the Transformation of Political Processes</a:t>
            </a:r>
            <a:endParaRPr lang="en-KE" sz="3600" b="1" dirty="0">
              <a:latin typeface="American Typewriter" panose="02090604020004020304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6F924-5D13-5A49-84A7-7E3F2D633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374"/>
            <a:ext cx="10515600" cy="5596370"/>
          </a:xfrm>
        </p:spPr>
        <p:txBody>
          <a:bodyPr>
            <a:noAutofit/>
          </a:bodyPr>
          <a:lstStyle/>
          <a:p>
            <a:r>
              <a:rPr lang="en-GB" sz="2000" b="1" dirty="0">
                <a:latin typeface="American Typewriter" panose="02090604020004020304" pitchFamily="18" charset="77"/>
              </a:rPr>
              <a:t>Increased Political Participation</a:t>
            </a:r>
          </a:p>
          <a:p>
            <a:pPr lvl="1"/>
            <a:r>
              <a:rPr lang="en-GB" sz="2000" dirty="0">
                <a:latin typeface="American Typewriter" panose="02090604020004020304" pitchFamily="18" charset="77"/>
              </a:rPr>
              <a:t>Citizens can engage in political discourse through social media, forums, and online petitions.</a:t>
            </a:r>
          </a:p>
          <a:p>
            <a:pPr lvl="1"/>
            <a:r>
              <a:rPr lang="en-GB" sz="2000" dirty="0">
                <a:latin typeface="American Typewriter" panose="02090604020004020304" pitchFamily="18" charset="77"/>
              </a:rPr>
              <a:t>Tools like </a:t>
            </a:r>
            <a:r>
              <a:rPr lang="en-GB" sz="2000" b="1" dirty="0" err="1">
                <a:latin typeface="American Typewriter" panose="02090604020004020304" pitchFamily="18" charset="77"/>
              </a:rPr>
              <a:t>Change.org</a:t>
            </a:r>
            <a:r>
              <a:rPr lang="en-GB" sz="2000" dirty="0">
                <a:latin typeface="American Typewriter" panose="02090604020004020304" pitchFamily="18" charset="77"/>
              </a:rPr>
              <a:t>, </a:t>
            </a:r>
            <a:r>
              <a:rPr lang="en-GB" sz="2000" b="1" dirty="0">
                <a:latin typeface="American Typewriter" panose="02090604020004020304" pitchFamily="18" charset="77"/>
              </a:rPr>
              <a:t>online surveys</a:t>
            </a:r>
            <a:r>
              <a:rPr lang="en-GB" sz="2000" dirty="0">
                <a:latin typeface="American Typewriter" panose="02090604020004020304" pitchFamily="18" charset="77"/>
              </a:rPr>
              <a:t>, and </a:t>
            </a:r>
            <a:r>
              <a:rPr lang="en-GB" sz="2000" b="1" dirty="0">
                <a:latin typeface="American Typewriter" panose="02090604020004020304" pitchFamily="18" charset="77"/>
              </a:rPr>
              <a:t>e-voting</a:t>
            </a:r>
            <a:r>
              <a:rPr lang="en-GB" sz="2000" dirty="0">
                <a:latin typeface="American Typewriter" panose="02090604020004020304" pitchFamily="18" charset="77"/>
              </a:rPr>
              <a:t> enhance democratic participation.</a:t>
            </a:r>
          </a:p>
          <a:p>
            <a:pPr lvl="1"/>
            <a:r>
              <a:rPr lang="en-GB" sz="2000" dirty="0">
                <a:latin typeface="American Typewriter" panose="02090604020004020304" pitchFamily="18" charset="77"/>
              </a:rPr>
              <a:t>Youth are more involved due to digital campaigns and influencers promoting political awareness.</a:t>
            </a:r>
          </a:p>
          <a:p>
            <a:r>
              <a:rPr lang="en-GB" sz="2000" b="1" dirty="0">
                <a:latin typeface="American Typewriter" panose="02090604020004020304" pitchFamily="18" charset="77"/>
              </a:rPr>
              <a:t>Digital Campaigning</a:t>
            </a:r>
          </a:p>
          <a:p>
            <a:pPr lvl="1"/>
            <a:r>
              <a:rPr lang="en-GB" sz="2000" dirty="0">
                <a:latin typeface="American Typewriter" panose="02090604020004020304" pitchFamily="18" charset="77"/>
              </a:rPr>
              <a:t>Political parties use ICTs to reach voters via: Targeted ads on social media, Campaign websites and newsletters, Live Q&amp;A sessions and debates on digital platforms</a:t>
            </a:r>
          </a:p>
          <a:p>
            <a:pPr lvl="1"/>
            <a:r>
              <a:rPr lang="en-GB" sz="2000" dirty="0">
                <a:latin typeface="American Typewriter" panose="02090604020004020304" pitchFamily="18" charset="77"/>
              </a:rPr>
              <a:t>Example: use of social media for campaigns e.g. </a:t>
            </a:r>
            <a:r>
              <a:rPr lang="en-GB" sz="2000" dirty="0" err="1">
                <a:latin typeface="American Typewriter" panose="02090604020004020304" pitchFamily="18" charset="77"/>
              </a:rPr>
              <a:t>facebook</a:t>
            </a:r>
            <a:r>
              <a:rPr lang="en-GB" sz="2000" dirty="0">
                <a:latin typeface="American Typewriter" panose="02090604020004020304" pitchFamily="18" charset="77"/>
              </a:rPr>
              <a:t>, </a:t>
            </a:r>
            <a:r>
              <a:rPr lang="en-GB" sz="2000" dirty="0" err="1">
                <a:latin typeface="American Typewriter" panose="02090604020004020304" pitchFamily="18" charset="77"/>
              </a:rPr>
              <a:t>youtube</a:t>
            </a:r>
            <a:r>
              <a:rPr lang="en-GB" sz="2000" dirty="0">
                <a:latin typeface="American Typewriter" panose="02090604020004020304" pitchFamily="18" charset="77"/>
              </a:rPr>
              <a:t>, X, </a:t>
            </a:r>
            <a:r>
              <a:rPr lang="en-GB" sz="2000" dirty="0" err="1">
                <a:latin typeface="American Typewriter" panose="02090604020004020304" pitchFamily="18" charset="77"/>
              </a:rPr>
              <a:t>whatsapp</a:t>
            </a:r>
            <a:endParaRPr lang="en-GB" sz="2000" dirty="0">
              <a:latin typeface="American Typewriter" panose="02090604020004020304" pitchFamily="18" charset="77"/>
            </a:endParaRPr>
          </a:p>
          <a:p>
            <a:r>
              <a:rPr lang="en-GB" sz="2000" b="1" dirty="0">
                <a:latin typeface="American Typewriter" panose="02090604020004020304" pitchFamily="18" charset="77"/>
              </a:rPr>
              <a:t>Transparency and Accountability</a:t>
            </a:r>
          </a:p>
          <a:p>
            <a:pPr lvl="1"/>
            <a:r>
              <a:rPr lang="en-GB" sz="2000" dirty="0">
                <a:latin typeface="American Typewriter" panose="02090604020004020304" pitchFamily="18" charset="77"/>
              </a:rPr>
              <a:t>ICTs expose corruption and government failures: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American Typewriter" panose="02090604020004020304" pitchFamily="18" charset="77"/>
              </a:rPr>
              <a:t>Whistle-blower platforms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American Typewriter" panose="02090604020004020304" pitchFamily="18" charset="77"/>
              </a:rPr>
              <a:t>Open data initiatives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American Typewriter" panose="02090604020004020304" pitchFamily="18" charset="77"/>
              </a:rPr>
              <a:t>Real-time tracking of public spending</a:t>
            </a:r>
          </a:p>
          <a:p>
            <a:pPr marL="0" indent="0">
              <a:buNone/>
            </a:pPr>
            <a:endParaRPr lang="en-GB" sz="20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endParaRPr lang="en-GB" sz="2000" dirty="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KE" sz="2000" dirty="0">
                <a:latin typeface="American Typewriter" panose="02090604020004020304" pitchFamily="18" charset="77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63651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D317B-760A-6044-9A73-68A39B34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latin typeface="American Typewriter" panose="02090604020004020304" pitchFamily="18" charset="77"/>
              </a:rPr>
              <a:t>ICTs and the Transformation of Political Processes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E5AB1-5C6A-D64A-9664-25450D485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b="1" dirty="0">
                <a:latin typeface="American Typewriter" panose="02090604020004020304" pitchFamily="18" charset="77"/>
              </a:rPr>
              <a:t>Digital Government and E-Governance</a:t>
            </a:r>
          </a:p>
          <a:p>
            <a:pPr lvl="1"/>
            <a:r>
              <a:rPr lang="en-GB" b="1" dirty="0">
                <a:latin typeface="American Typewriter" panose="02090604020004020304" pitchFamily="18" charset="77"/>
              </a:rPr>
              <a:t>E-Government</a:t>
            </a:r>
            <a:r>
              <a:rPr lang="en-GB" dirty="0">
                <a:latin typeface="American Typewriter" panose="02090604020004020304" pitchFamily="18" charset="77"/>
              </a:rPr>
              <a:t>: Digital delivery of services (e.g., tax filing, license renewal)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Increases efficiency, reduces corruption, and improves citizen access</a:t>
            </a:r>
          </a:p>
          <a:p>
            <a:pPr lvl="1"/>
            <a:r>
              <a:rPr lang="en-GB" dirty="0">
                <a:latin typeface="American Typewriter" panose="02090604020004020304" pitchFamily="18" charset="77"/>
              </a:rPr>
              <a:t>Examples: Kenya </a:t>
            </a:r>
            <a:r>
              <a:rPr lang="en-GB" dirty="0" err="1">
                <a:latin typeface="American Typewriter" panose="02090604020004020304" pitchFamily="18" charset="77"/>
              </a:rPr>
              <a:t>Ecitizen</a:t>
            </a:r>
            <a:r>
              <a:rPr lang="en-GB" dirty="0">
                <a:latin typeface="American Typewriter" panose="02090604020004020304" pitchFamily="18" charset="77"/>
              </a:rPr>
              <a:t> platform, Rwanda’s </a:t>
            </a:r>
            <a:r>
              <a:rPr lang="en-GB" dirty="0" err="1">
                <a:latin typeface="American Typewriter" panose="02090604020004020304" pitchFamily="18" charset="77"/>
              </a:rPr>
              <a:t>Irembo</a:t>
            </a:r>
            <a:r>
              <a:rPr lang="en-GB" dirty="0">
                <a:latin typeface="American Typewriter" panose="02090604020004020304" pitchFamily="18" charset="77"/>
              </a:rPr>
              <a:t> platform</a:t>
            </a:r>
          </a:p>
          <a:p>
            <a:r>
              <a:rPr lang="en-GB" b="1" dirty="0">
                <a:latin typeface="American Typewriter" panose="02090604020004020304" pitchFamily="18" charset="77"/>
              </a:rPr>
              <a:t>Election Monitoring and E-Voting</a:t>
            </a:r>
            <a:r>
              <a:rPr lang="en-GB" dirty="0">
                <a:latin typeface="American Typewriter" panose="02090604020004020304" pitchFamily="18" charset="77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Electronic voting machines (EVMs)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Digital voter registration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Monitoring election fraud via crowdsourced reporting (e.g., Ushahidi in Kenya)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Benefits: Faster, more accessible elections</a:t>
            </a:r>
          </a:p>
          <a:p>
            <a:pPr marL="0" indent="0">
              <a:buNone/>
            </a:pPr>
            <a:endParaRPr lang="en-KE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26243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236D-D5A9-2041-9E4B-F5155AB4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51164"/>
            <a:ext cx="10522528" cy="554181"/>
          </a:xfrm>
        </p:spPr>
        <p:txBody>
          <a:bodyPr>
            <a:normAutofit fontScale="90000"/>
          </a:bodyPr>
          <a:lstStyle/>
          <a:p>
            <a:r>
              <a:rPr lang="en-KE" b="1" dirty="0">
                <a:effectLst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Social media and the reshaping of public opinion</a:t>
            </a:r>
            <a:br>
              <a:rPr lang="en-KE" sz="1800" b="1" dirty="0">
                <a:effectLst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KE" b="1" dirty="0">
              <a:latin typeface="American Typewriter" panose="02090604020004020304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63CF-65C5-D249-8619-93CB4AF59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1" y="1205346"/>
            <a:ext cx="5527963" cy="5652654"/>
          </a:xfrm>
        </p:spPr>
        <p:txBody>
          <a:bodyPr>
            <a:noAutofit/>
          </a:bodyPr>
          <a:lstStyle/>
          <a:p>
            <a:r>
              <a:rPr lang="en-GB" b="1" dirty="0">
                <a:latin typeface="American Typewriter" panose="02090604020004020304" pitchFamily="18" charset="77"/>
              </a:rPr>
              <a:t>Everyone Has a Voice: </a:t>
            </a:r>
            <a:r>
              <a:rPr lang="en-GB" dirty="0">
                <a:latin typeface="American Typewriter" panose="02090604020004020304" pitchFamily="18" charset="77"/>
              </a:rPr>
              <a:t>Social media gives ordinary people a platform to speak 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merican Typewriter" panose="02090604020004020304" pitchFamily="18" charset="77"/>
              </a:rPr>
              <a:t>Movements like </a:t>
            </a:r>
            <a:r>
              <a:rPr lang="en-GB" b="1" dirty="0">
                <a:latin typeface="American Typewriter" panose="02090604020004020304" pitchFamily="18" charset="77"/>
              </a:rPr>
              <a:t>#MeToo</a:t>
            </a:r>
            <a:r>
              <a:rPr lang="en-GB" dirty="0">
                <a:latin typeface="American Typewriter" panose="02090604020004020304" pitchFamily="18" charset="77"/>
              </a:rPr>
              <a:t> and </a:t>
            </a:r>
            <a:r>
              <a:rPr lang="en-GB" b="1" dirty="0">
                <a:latin typeface="American Typewriter" panose="02090604020004020304" pitchFamily="18" charset="77"/>
              </a:rPr>
              <a:t>#BlackLivesMatter</a:t>
            </a:r>
            <a:r>
              <a:rPr lang="en-GB" dirty="0">
                <a:latin typeface="American Typewriter" panose="02090604020004020304" pitchFamily="18" charset="77"/>
              </a:rPr>
              <a:t> gained global attention this way.</a:t>
            </a:r>
          </a:p>
          <a:p>
            <a:r>
              <a:rPr lang="en-GB" b="1" dirty="0">
                <a:latin typeface="American Typewriter" panose="02090604020004020304" pitchFamily="18" charset="77"/>
              </a:rPr>
              <a:t>Echo Chambers: </a:t>
            </a:r>
            <a:r>
              <a:rPr lang="en-GB" dirty="0">
                <a:latin typeface="American Typewriter" panose="02090604020004020304" pitchFamily="18" charset="77"/>
              </a:rPr>
              <a:t>Algorithms show users content they already agree with, creating "bubbles" of opinion. This can increase </a:t>
            </a:r>
            <a:r>
              <a:rPr lang="en-GB" b="1" dirty="0">
                <a:latin typeface="American Typewriter" panose="02090604020004020304" pitchFamily="18" charset="77"/>
              </a:rPr>
              <a:t>polarization</a:t>
            </a:r>
            <a:r>
              <a:rPr lang="en-GB" dirty="0">
                <a:latin typeface="American Typewriter" panose="02090604020004020304" pitchFamily="18" charset="77"/>
              </a:rPr>
              <a:t> and reduce understanding of other views.</a:t>
            </a:r>
          </a:p>
          <a:p>
            <a:endParaRPr lang="en-K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EFC6E-C3E7-C549-A91D-D4EAAE713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2764" y="1205346"/>
            <a:ext cx="6192981" cy="5652654"/>
          </a:xfrm>
        </p:spPr>
        <p:txBody>
          <a:bodyPr>
            <a:noAutofit/>
          </a:bodyPr>
          <a:lstStyle/>
          <a:p>
            <a:r>
              <a:rPr lang="en-GB" b="1" dirty="0">
                <a:latin typeface="American Typewriter" panose="02090604020004020304" pitchFamily="18" charset="77"/>
              </a:rPr>
              <a:t>Viral Influence: </a:t>
            </a:r>
            <a:r>
              <a:rPr lang="en-GB" dirty="0">
                <a:latin typeface="American Typewriter" panose="02090604020004020304" pitchFamily="18" charset="77"/>
              </a:rPr>
              <a:t>Emotional or dramatic content spreads fast—even if it's </a:t>
            </a:r>
            <a:r>
              <a:rPr lang="en-GB" b="1" dirty="0">
                <a:latin typeface="American Typewriter" panose="02090604020004020304" pitchFamily="18" charset="77"/>
              </a:rPr>
              <a:t>not true</a:t>
            </a:r>
            <a:r>
              <a:rPr lang="en-GB" dirty="0">
                <a:latin typeface="American Typewriter" panose="02090604020004020304" pitchFamily="18" charset="77"/>
              </a:rPr>
              <a:t>. Memes, hashtags, and influencers can shape public debate overnight.</a:t>
            </a:r>
          </a:p>
          <a:p>
            <a:r>
              <a:rPr lang="en-GB" b="1" dirty="0">
                <a:latin typeface="American Typewriter" panose="02090604020004020304" pitchFamily="18" charset="77"/>
              </a:rPr>
              <a:t>Misinformation: </a:t>
            </a:r>
            <a:r>
              <a:rPr lang="en-GB" dirty="0">
                <a:latin typeface="American Typewriter" panose="02090604020004020304" pitchFamily="18" charset="77"/>
              </a:rPr>
              <a:t>Fake news, </a:t>
            </a:r>
            <a:r>
              <a:rPr lang="en-GB" dirty="0" err="1">
                <a:latin typeface="American Typewriter" panose="02090604020004020304" pitchFamily="18" charset="77"/>
              </a:rPr>
              <a:t>deepfakes</a:t>
            </a:r>
            <a:r>
              <a:rPr lang="en-GB" dirty="0">
                <a:latin typeface="American Typewriter" panose="02090604020004020304" pitchFamily="18" charset="77"/>
              </a:rPr>
              <a:t>, and propaganda can </a:t>
            </a:r>
            <a:r>
              <a:rPr lang="en-GB" b="1" dirty="0">
                <a:latin typeface="American Typewriter" panose="02090604020004020304" pitchFamily="18" charset="77"/>
              </a:rPr>
              <a:t>manipulate opinions</a:t>
            </a:r>
            <a:r>
              <a:rPr lang="en-GB" dirty="0">
                <a:latin typeface="American Typewriter" panose="02090604020004020304" pitchFamily="18" charset="77"/>
              </a:rPr>
              <a:t>, especially during elections or crises.</a:t>
            </a:r>
          </a:p>
          <a:p>
            <a:r>
              <a:rPr lang="en-GB" b="1" dirty="0">
                <a:latin typeface="American Typewriter" panose="02090604020004020304" pitchFamily="18" charset="77"/>
              </a:rPr>
              <a:t>Real-Time Reactions: </a:t>
            </a:r>
            <a:r>
              <a:rPr lang="en-GB" dirty="0">
                <a:latin typeface="American Typewriter" panose="02090604020004020304" pitchFamily="18" charset="77"/>
              </a:rPr>
              <a:t>Public opinion changes fast—politicians and brands adjust quickly based on trends.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578253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425-68B8-A745-94C8-A900BBE5B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merican Typewriter" panose="02090604020004020304" pitchFamily="18" charset="77"/>
              </a:rPr>
              <a:t>Risks and Challenges</a:t>
            </a:r>
            <a:br>
              <a:rPr lang="en-GB" b="1" dirty="0">
                <a:latin typeface="American Typewriter" panose="02090604020004020304" pitchFamily="18" charset="77"/>
              </a:rPr>
            </a:br>
            <a:endParaRPr lang="en-KE" dirty="0">
              <a:latin typeface="American Typewriter" panose="02090604020004020304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92DBA-094A-AB4D-9D15-EDDBB7097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American Typewriter" panose="02090604020004020304" pitchFamily="18" charset="77"/>
              </a:rPr>
              <a:t>Disinformation</a:t>
            </a:r>
            <a:r>
              <a:rPr lang="en-GB" dirty="0">
                <a:latin typeface="American Typewriter" panose="02090604020004020304" pitchFamily="18" charset="77"/>
              </a:rPr>
              <a:t>: Fake news spreads rapidly and manipulates voters.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American Typewriter" panose="02090604020004020304" pitchFamily="18" charset="77"/>
              </a:rPr>
              <a:t>Cybersecurity threats</a:t>
            </a:r>
            <a:r>
              <a:rPr lang="en-GB" dirty="0">
                <a:latin typeface="American Typewriter" panose="02090604020004020304" pitchFamily="18" charset="77"/>
              </a:rPr>
              <a:t>: Hacking of political data and campaigns.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American Typewriter" panose="02090604020004020304" pitchFamily="18" charset="77"/>
              </a:rPr>
              <a:t>Surveillance and censorship</a:t>
            </a:r>
            <a:r>
              <a:rPr lang="en-GB" dirty="0">
                <a:latin typeface="American Typewriter" panose="02090604020004020304" pitchFamily="18" charset="77"/>
              </a:rPr>
              <a:t> in authoritarian regimes.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American Typewriter" panose="02090604020004020304" pitchFamily="18" charset="77"/>
              </a:rPr>
              <a:t>Digital divide</a:t>
            </a:r>
            <a:r>
              <a:rPr lang="en-GB" dirty="0">
                <a:latin typeface="American Typewriter" panose="02090604020004020304" pitchFamily="18" charset="77"/>
              </a:rPr>
              <a:t>: Not all citizens have equal access to participate online.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701350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806</Words>
  <Application>Microsoft Macintosh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American Typewriter</vt:lpstr>
      <vt:lpstr>Arial</vt:lpstr>
      <vt:lpstr>Calibri</vt:lpstr>
      <vt:lpstr>Calibri Light</vt:lpstr>
      <vt:lpstr>Office Theme</vt:lpstr>
      <vt:lpstr>TECHNOLOGY AND SOCIAL CHANGE</vt:lpstr>
      <vt:lpstr>What is Social Change ?</vt:lpstr>
      <vt:lpstr>How Technology Drives Social Change</vt:lpstr>
      <vt:lpstr>Contemporary Technological Changes </vt:lpstr>
      <vt:lpstr>The Role of ICTs in Social Movements and Activism</vt:lpstr>
      <vt:lpstr>The Role of ICTs in Social Movements and Activism</vt:lpstr>
      <vt:lpstr>ICTs and the Transformation of Political Processes</vt:lpstr>
      <vt:lpstr>ICTs and the Transformation of Political Processes</vt:lpstr>
      <vt:lpstr>Social media and the reshaping of public opinion </vt:lpstr>
      <vt:lpstr>Risks and Challenges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AND SOCIAL CHANGE</dc:title>
  <dc:creator>Microsoft Office User</dc:creator>
  <cp:lastModifiedBy>Microsoft Office User</cp:lastModifiedBy>
  <cp:revision>9</cp:revision>
  <dcterms:created xsi:type="dcterms:W3CDTF">2025-06-17T06:59:27Z</dcterms:created>
  <dcterms:modified xsi:type="dcterms:W3CDTF">2025-06-17T09:59:24Z</dcterms:modified>
</cp:coreProperties>
</file>